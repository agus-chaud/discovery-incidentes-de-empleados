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74" r:id="rId9"/>
    <p:sldId id="272" r:id="rId10"/>
    <p:sldId id="275" r:id="rId11"/>
    <p:sldId id="276" r:id="rId12"/>
    <p:sldId id="278" r:id="rId13"/>
    <p:sldId id="265" r:id="rId14"/>
    <p:sldId id="267" r:id="rId15"/>
    <p:sldId id="277" r:id="rId16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3698" autoAdjust="0"/>
  </p:normalViewPr>
  <p:slideViewPr>
    <p:cSldViewPr snapToGrid="0">
      <p:cViewPr varScale="1">
        <p:scale>
          <a:sx n="51" d="100"/>
          <a:sy n="51" d="100"/>
        </p:scale>
        <p:origin x="123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52875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715077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996861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787465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94191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916846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784665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404334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046360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891284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860450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100380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495116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292092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83359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618571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xmlns="" id="{B2FF068B-3CB4-4790-9F43-16ADA4D72697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287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5959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5955"/>
                </a:solidFill>
                <a:latin typeface="Arial"/>
                <a:ea typeface="Arial"/>
                <a:cs typeface="Arial"/>
              </a:rPr>
              <a:t>Datos observados: enero de 2024 a mayo de 2025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xmlns="" id="{BD09E2F6-4FED-4A74-9DB5-CA665810866A}"/>
              </a:ext>
            </a:extLst>
          </p:cNvPr>
          <p:cNvSpPr>
            <a:spLocks noGrp="1"/>
          </p:cNvSpPr>
          <p:nvPr/>
        </p:nvSpPr>
        <p:spPr>
          <a:xfrm>
            <a:off x="609600" y="762000"/>
            <a:ext cx="1095375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800" b="1">
                <a:solidFill>
                  <a:srgbClr val="292927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292927"/>
                </a:solidFill>
                <a:latin typeface="Arial"/>
                <a:ea typeface="Arial"/>
                <a:cs typeface="Arial"/>
              </a:rPr>
              <a:t>TechnoStamp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xmlns="" id="{20D07179-1278-4D95-8BE3-765560887A27}"/>
              </a:ext>
            </a:extLst>
          </p:cNvPr>
          <p:cNvSpPr>
            <a:spLocks noGrp="1"/>
          </p:cNvSpPr>
          <p:nvPr/>
        </p:nvSpPr>
        <p:spPr>
          <a:xfrm>
            <a:off x="609600" y="2190750"/>
            <a:ext cx="10763250" cy="1381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975" b="1">
                <a:solidFill>
                  <a:srgbClr val="292927"/>
                </a:solidFill>
                <a:latin typeface="Arial"/>
                <a:ea typeface="Arial"/>
                <a:cs typeface="Arial"/>
              </a:defRPr>
            </a:pPr>
            <a:r>
              <a:rPr lang="es-ES" sz="3975" b="1" dirty="0" err="1" smtClean="0">
                <a:solidFill>
                  <a:srgbClr val="292927"/>
                </a:solidFill>
                <a:latin typeface="Arial"/>
                <a:ea typeface="Arial"/>
                <a:cs typeface="Arial"/>
              </a:rPr>
              <a:t>Areas</a:t>
            </a:r>
            <a:r>
              <a:rPr lang="es-ES" sz="3975" b="1" dirty="0" smtClean="0">
                <a:solidFill>
                  <a:srgbClr val="292927"/>
                </a:solidFill>
                <a:latin typeface="Arial"/>
                <a:ea typeface="Arial"/>
                <a:cs typeface="Arial"/>
              </a:rPr>
              <a:t> de mejora</a:t>
            </a:r>
            <a:endParaRPr sz="3975" b="1" dirty="0">
              <a:solidFill>
                <a:srgbClr val="2929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xmlns="" id="{FE0EDA49-88D0-4FBD-B260-78D59855AA77}"/>
              </a:ext>
            </a:extLst>
          </p:cNvPr>
          <p:cNvSpPr>
            <a:spLocks noGrp="1"/>
          </p:cNvSpPr>
          <p:nvPr/>
        </p:nvSpPr>
        <p:spPr>
          <a:xfrm>
            <a:off x="609600" y="4000500"/>
            <a:ext cx="10477500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292927"/>
                </a:solidFill>
                <a:latin typeface="Arial"/>
                <a:ea typeface="Arial"/>
                <a:cs typeface="Arial"/>
              </a:defRPr>
            </a:pPr>
            <a:r>
              <a:rPr sz="2700" b="0" dirty="0" err="1">
                <a:solidFill>
                  <a:srgbClr val="292927"/>
                </a:solidFill>
                <a:latin typeface="Arial"/>
                <a:ea typeface="Arial"/>
                <a:cs typeface="Arial"/>
              </a:rPr>
              <a:t>Seguridad</a:t>
            </a:r>
            <a:r>
              <a:rPr sz="2700" b="0" dirty="0">
                <a:solidFill>
                  <a:srgbClr val="292927"/>
                </a:solidFill>
                <a:latin typeface="Arial"/>
                <a:ea typeface="Arial"/>
                <a:cs typeface="Arial"/>
              </a:rPr>
              <a:t>, </a:t>
            </a:r>
            <a:r>
              <a:rPr sz="2700" b="0" dirty="0" err="1">
                <a:solidFill>
                  <a:srgbClr val="292927"/>
                </a:solidFill>
                <a:latin typeface="Arial"/>
                <a:ea typeface="Arial"/>
                <a:cs typeface="Arial"/>
              </a:rPr>
              <a:t>carga</a:t>
            </a:r>
            <a:r>
              <a:rPr sz="2700" b="0" dirty="0">
                <a:solidFill>
                  <a:srgbClr val="292927"/>
                </a:solidFill>
                <a:latin typeface="Arial"/>
                <a:ea typeface="Arial"/>
                <a:cs typeface="Arial"/>
              </a:rPr>
              <a:t> de </a:t>
            </a:r>
            <a:r>
              <a:rPr sz="2700" b="0" dirty="0" err="1" smtClean="0">
                <a:solidFill>
                  <a:srgbClr val="292927"/>
                </a:solidFill>
                <a:latin typeface="Arial"/>
                <a:ea typeface="Arial"/>
                <a:cs typeface="Arial"/>
              </a:rPr>
              <a:t>trabajo</a:t>
            </a:r>
            <a:r>
              <a:rPr lang="es-ES" sz="2700" dirty="0">
                <a:solidFill>
                  <a:srgbClr val="292927"/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0" dirty="0" smtClean="0">
                <a:solidFill>
                  <a:srgbClr val="292927"/>
                </a:solidFill>
                <a:latin typeface="Arial"/>
                <a:ea typeface="Arial"/>
                <a:cs typeface="Arial"/>
              </a:rPr>
              <a:t>y </a:t>
            </a:r>
            <a:r>
              <a:rPr sz="2700" b="0" dirty="0" err="1">
                <a:solidFill>
                  <a:srgbClr val="292927"/>
                </a:solidFill>
                <a:latin typeface="Arial"/>
                <a:ea typeface="Arial"/>
                <a:cs typeface="Arial"/>
              </a:rPr>
              <a:t>continuidad</a:t>
            </a:r>
            <a:r>
              <a:rPr sz="2700" b="0" dirty="0">
                <a:solidFill>
                  <a:srgbClr val="292927"/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0" dirty="0" err="1">
                <a:solidFill>
                  <a:srgbClr val="292927"/>
                </a:solidFill>
                <a:latin typeface="Arial"/>
                <a:ea typeface="Arial"/>
                <a:cs typeface="Arial"/>
              </a:rPr>
              <a:t>operativa</a:t>
            </a:r>
            <a:endParaRPr sz="2700" b="0" dirty="0">
              <a:solidFill>
                <a:srgbClr val="292927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05557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xmlns="" id="{C24450DB-8076-486A-8602-04B4E915C51D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53750" cy="1104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292927"/>
                </a:solidFill>
                <a:latin typeface="Arial"/>
                <a:ea typeface="Arial"/>
                <a:cs typeface="Arial"/>
              </a:defRPr>
            </a:pPr>
            <a:r>
              <a:rPr sz="3300" b="1" dirty="0">
                <a:solidFill>
                  <a:srgbClr val="292927"/>
                </a:solidFill>
                <a:latin typeface="Arial"/>
                <a:ea typeface="Arial"/>
                <a:cs typeface="Arial"/>
              </a:rPr>
              <a:t>La </a:t>
            </a:r>
            <a:r>
              <a:rPr sz="3300" b="1" dirty="0" err="1">
                <a:solidFill>
                  <a:srgbClr val="292927"/>
                </a:solidFill>
                <a:latin typeface="Arial"/>
                <a:ea typeface="Arial"/>
                <a:cs typeface="Arial"/>
              </a:rPr>
              <a:t>tasa</a:t>
            </a:r>
            <a:r>
              <a:rPr sz="3300" b="1" dirty="0">
                <a:solidFill>
                  <a:srgbClr val="292927"/>
                </a:solidFill>
                <a:latin typeface="Arial"/>
                <a:ea typeface="Arial"/>
                <a:cs typeface="Arial"/>
              </a:rPr>
              <a:t> de </a:t>
            </a:r>
            <a:r>
              <a:rPr sz="3300" b="1" dirty="0" err="1">
                <a:solidFill>
                  <a:srgbClr val="292927"/>
                </a:solidFill>
                <a:latin typeface="Arial"/>
                <a:ea typeface="Arial"/>
                <a:cs typeface="Arial"/>
              </a:rPr>
              <a:t>incidentes</a:t>
            </a:r>
            <a:r>
              <a:rPr sz="3300" b="1" dirty="0">
                <a:solidFill>
                  <a:srgbClr val="292927"/>
                </a:solidFill>
                <a:latin typeface="Arial"/>
                <a:ea typeface="Arial"/>
                <a:cs typeface="Arial"/>
              </a:rPr>
              <a:t> </a:t>
            </a:r>
            <a:r>
              <a:rPr sz="3300" b="1" dirty="0" err="1">
                <a:solidFill>
                  <a:srgbClr val="292927"/>
                </a:solidFill>
                <a:latin typeface="Arial"/>
                <a:ea typeface="Arial"/>
                <a:cs typeface="Arial"/>
              </a:rPr>
              <a:t>es</a:t>
            </a:r>
            <a:r>
              <a:rPr sz="3300" b="1" dirty="0">
                <a:solidFill>
                  <a:srgbClr val="292927"/>
                </a:solidFill>
                <a:latin typeface="Arial"/>
                <a:ea typeface="Arial"/>
                <a:cs typeface="Arial"/>
              </a:rPr>
              <a:t> </a:t>
            </a:r>
            <a:r>
              <a:rPr sz="3300" b="1" dirty="0" smtClean="0">
                <a:solidFill>
                  <a:srgbClr val="292927"/>
                </a:solidFill>
                <a:latin typeface="Arial"/>
                <a:ea typeface="Arial"/>
                <a:cs typeface="Arial"/>
              </a:rPr>
              <a:t>mayor</a:t>
            </a:r>
            <a:r>
              <a:rPr lang="es-ES" sz="3300" b="1" dirty="0" smtClean="0">
                <a:solidFill>
                  <a:srgbClr val="292927"/>
                </a:solidFill>
                <a:latin typeface="Arial"/>
                <a:ea typeface="Arial"/>
                <a:cs typeface="Arial"/>
              </a:rPr>
              <a:t> </a:t>
            </a:r>
            <a:r>
              <a:rPr sz="3300" b="1" dirty="0" err="1" smtClean="0">
                <a:solidFill>
                  <a:srgbClr val="292927"/>
                </a:solidFill>
                <a:latin typeface="Arial"/>
                <a:ea typeface="Arial"/>
                <a:cs typeface="Arial"/>
              </a:rPr>
              <a:t>en</a:t>
            </a:r>
            <a:r>
              <a:rPr sz="3300" b="1" dirty="0" smtClean="0">
                <a:solidFill>
                  <a:srgbClr val="292927"/>
                </a:solidFill>
                <a:latin typeface="Arial"/>
                <a:ea typeface="Arial"/>
                <a:cs typeface="Arial"/>
              </a:rPr>
              <a:t> </a:t>
            </a:r>
            <a:r>
              <a:rPr lang="es-ES" sz="3300" b="1" dirty="0" smtClean="0">
                <a:solidFill>
                  <a:srgbClr val="292927"/>
                </a:solidFill>
                <a:latin typeface="Arial"/>
                <a:ea typeface="Arial"/>
                <a:cs typeface="Arial"/>
              </a:rPr>
              <a:t>el </a:t>
            </a:r>
            <a:r>
              <a:rPr sz="3300" b="1" dirty="0" err="1" smtClean="0">
                <a:solidFill>
                  <a:srgbClr val="292927"/>
                </a:solidFill>
                <a:latin typeface="Arial"/>
                <a:ea typeface="Arial"/>
                <a:cs typeface="Arial"/>
              </a:rPr>
              <a:t>turno</a:t>
            </a:r>
            <a:r>
              <a:rPr sz="3300" b="1" dirty="0" smtClean="0">
                <a:solidFill>
                  <a:srgbClr val="292927"/>
                </a:solidFill>
                <a:latin typeface="Arial"/>
                <a:ea typeface="Arial"/>
                <a:cs typeface="Arial"/>
              </a:rPr>
              <a:t> </a:t>
            </a:r>
            <a:r>
              <a:rPr sz="3300" b="1" dirty="0" err="1">
                <a:solidFill>
                  <a:srgbClr val="292927"/>
                </a:solidFill>
                <a:latin typeface="Arial"/>
                <a:ea typeface="Arial"/>
                <a:cs typeface="Arial"/>
              </a:rPr>
              <a:t>noche</a:t>
            </a:r>
            <a:endParaRPr sz="3300" b="1" dirty="0">
              <a:solidFill>
                <a:srgbClr val="2929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xmlns="" id="{D6862A45-D79C-46E3-8F0D-6BC8E476E3F3}"/>
              </a:ext>
            </a:extLst>
          </p:cNvPr>
          <p:cNvSpPr>
            <a:spLocks noGrp="1"/>
          </p:cNvSpPr>
          <p:nvPr/>
        </p:nvSpPr>
        <p:spPr>
          <a:xfrm>
            <a:off x="0" y="6545036"/>
            <a:ext cx="10287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595955"/>
                </a:solidFill>
                <a:latin typeface="Arial"/>
                <a:ea typeface="Arial"/>
                <a:cs typeface="Arial"/>
              </a:defRPr>
            </a:pPr>
            <a:r>
              <a:rPr sz="1125" b="0" dirty="0">
                <a:solidFill>
                  <a:srgbClr val="595955"/>
                </a:solidFill>
                <a:latin typeface="Arial"/>
                <a:ea typeface="Arial"/>
                <a:cs typeface="Arial"/>
              </a:rPr>
              <a:t>P4_incidentes_por_turno.csv. </a:t>
            </a:r>
            <a:r>
              <a:rPr sz="1125" b="0" dirty="0" err="1">
                <a:solidFill>
                  <a:srgbClr val="595955"/>
                </a:solidFill>
                <a:latin typeface="Arial"/>
                <a:ea typeface="Arial"/>
                <a:cs typeface="Arial"/>
              </a:rPr>
              <a:t>Enero</a:t>
            </a:r>
            <a:r>
              <a:rPr sz="1125" b="0" dirty="0">
                <a:solidFill>
                  <a:srgbClr val="595955"/>
                </a:solidFill>
                <a:latin typeface="Arial"/>
                <a:ea typeface="Arial"/>
                <a:cs typeface="Arial"/>
              </a:rPr>
              <a:t> de 2024 a mayo de 2025.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xmlns="" id="{22A83C01-DFDE-48BF-B095-EA838DDC4954}"/>
              </a:ext>
            </a:extLst>
          </p:cNvPr>
          <p:cNvSpPr>
            <a:spLocks noGrp="1"/>
          </p:cNvSpPr>
          <p:nvPr/>
        </p:nvSpPr>
        <p:spPr>
          <a:xfrm>
            <a:off x="9763125" y="2177143"/>
            <a:ext cx="2667000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6300" b="1">
                <a:solidFill>
                  <a:srgbClr val="82634E"/>
                </a:solidFill>
                <a:latin typeface="Arial"/>
                <a:ea typeface="Arial"/>
                <a:cs typeface="Arial"/>
              </a:defRPr>
            </a:pPr>
            <a:r>
              <a:rPr sz="6300" b="1" dirty="0">
                <a:solidFill>
                  <a:srgbClr val="82634E"/>
                </a:solidFill>
                <a:latin typeface="Arial"/>
                <a:ea typeface="Arial"/>
                <a:cs typeface="Arial"/>
              </a:rPr>
              <a:t>5,4x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xmlns="" id="{6319AC88-2783-4242-9EDD-9C094196B343}"/>
              </a:ext>
            </a:extLst>
          </p:cNvPr>
          <p:cNvSpPr>
            <a:spLocks noGrp="1"/>
          </p:cNvSpPr>
          <p:nvPr/>
        </p:nvSpPr>
        <p:spPr>
          <a:xfrm>
            <a:off x="9763125" y="5334000"/>
            <a:ext cx="2667000" cy="1000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292927"/>
                </a:solidFill>
                <a:latin typeface="Arial"/>
                <a:ea typeface="Arial"/>
                <a:cs typeface="Arial"/>
              </a:defRPr>
            </a:pPr>
            <a:r>
              <a:rPr sz="1950" b="1" dirty="0" err="1">
                <a:solidFill>
                  <a:srgbClr val="292927"/>
                </a:solidFill>
                <a:latin typeface="Arial"/>
                <a:ea typeface="Arial"/>
                <a:cs typeface="Arial"/>
              </a:rPr>
              <a:t>Turno</a:t>
            </a:r>
            <a:r>
              <a:rPr sz="1950" b="1" dirty="0">
                <a:solidFill>
                  <a:srgbClr val="292927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1" dirty="0" err="1">
                <a:solidFill>
                  <a:srgbClr val="292927"/>
                </a:solidFill>
                <a:latin typeface="Arial"/>
                <a:ea typeface="Arial"/>
                <a:cs typeface="Arial"/>
              </a:rPr>
              <a:t>asignado</a:t>
            </a:r>
            <a:r>
              <a:rPr sz="1950" b="1" dirty="0">
                <a:solidFill>
                  <a:srgbClr val="292927"/>
                </a:solidFill>
                <a:latin typeface="Arial"/>
                <a:ea typeface="Arial"/>
                <a:cs typeface="Arial"/>
              </a:rPr>
              <a:t>,</a:t>
            </a:r>
          </a:p>
          <a:p>
            <a:pPr>
              <a:defRPr sz="1950" b="1">
                <a:solidFill>
                  <a:srgbClr val="292927"/>
                </a:solidFill>
                <a:latin typeface="Arial"/>
                <a:ea typeface="Arial"/>
                <a:cs typeface="Arial"/>
              </a:defRPr>
            </a:pPr>
            <a:r>
              <a:rPr sz="1950" b="1" dirty="0">
                <a:solidFill>
                  <a:srgbClr val="292927"/>
                </a:solidFill>
                <a:latin typeface="Arial"/>
                <a:ea typeface="Arial"/>
                <a:cs typeface="Arial"/>
              </a:rPr>
              <a:t>no hora del </a:t>
            </a:r>
            <a:r>
              <a:rPr sz="1950" b="1" dirty="0" err="1">
                <a:solidFill>
                  <a:srgbClr val="292927"/>
                </a:solidFill>
                <a:latin typeface="Arial"/>
                <a:ea typeface="Arial"/>
                <a:cs typeface="Arial"/>
              </a:rPr>
              <a:t>hecho</a:t>
            </a:r>
            <a:endParaRPr sz="1950" b="1" dirty="0">
              <a:solidFill>
                <a:srgbClr val="292927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878" y="1060538"/>
            <a:ext cx="9379451" cy="4941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2269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xmlns="" id="{2F2E2C71-D2AA-48E4-8368-30145331C25A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53750" cy="1104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292927"/>
                </a:solidFill>
                <a:latin typeface="Arial"/>
                <a:ea typeface="Arial"/>
                <a:cs typeface="Arial"/>
              </a:defRPr>
            </a:pPr>
            <a:r>
              <a:rPr sz="3300" b="1" dirty="0">
                <a:solidFill>
                  <a:srgbClr val="292927"/>
                </a:solidFill>
                <a:latin typeface="Arial"/>
                <a:ea typeface="Arial"/>
                <a:cs typeface="Arial"/>
              </a:rPr>
              <a:t>102 de </a:t>
            </a:r>
            <a:r>
              <a:rPr sz="3300" b="1" dirty="0" err="1">
                <a:solidFill>
                  <a:srgbClr val="292927"/>
                </a:solidFill>
                <a:latin typeface="Arial"/>
                <a:ea typeface="Arial"/>
                <a:cs typeface="Arial"/>
              </a:rPr>
              <a:t>los</a:t>
            </a:r>
            <a:r>
              <a:rPr sz="3300" b="1" dirty="0">
                <a:solidFill>
                  <a:srgbClr val="292927"/>
                </a:solidFill>
                <a:latin typeface="Arial"/>
                <a:ea typeface="Arial"/>
                <a:cs typeface="Arial"/>
              </a:rPr>
              <a:t> 138 </a:t>
            </a:r>
            <a:r>
              <a:rPr sz="3300" b="1" dirty="0" err="1">
                <a:solidFill>
                  <a:srgbClr val="292927"/>
                </a:solidFill>
                <a:latin typeface="Arial"/>
                <a:ea typeface="Arial"/>
                <a:cs typeface="Arial"/>
              </a:rPr>
              <a:t>días</a:t>
            </a:r>
            <a:r>
              <a:rPr sz="3300" b="1" dirty="0">
                <a:solidFill>
                  <a:srgbClr val="292927"/>
                </a:solidFill>
                <a:latin typeface="Arial"/>
                <a:ea typeface="Arial"/>
                <a:cs typeface="Arial"/>
              </a:rPr>
              <a:t> </a:t>
            </a:r>
            <a:r>
              <a:rPr sz="3300" b="1" dirty="0" err="1">
                <a:solidFill>
                  <a:srgbClr val="292927"/>
                </a:solidFill>
                <a:latin typeface="Arial"/>
                <a:ea typeface="Arial"/>
                <a:cs typeface="Arial"/>
              </a:rPr>
              <a:t>laborales</a:t>
            </a:r>
            <a:r>
              <a:rPr sz="3300" b="1" dirty="0">
                <a:solidFill>
                  <a:srgbClr val="292927"/>
                </a:solidFill>
                <a:latin typeface="Arial"/>
                <a:ea typeface="Arial"/>
                <a:cs typeface="Arial"/>
              </a:rPr>
              <a:t> </a:t>
            </a:r>
            <a:r>
              <a:rPr sz="3300" b="1" dirty="0" err="1">
                <a:solidFill>
                  <a:srgbClr val="292927"/>
                </a:solidFill>
                <a:latin typeface="Arial"/>
                <a:ea typeface="Arial"/>
                <a:cs typeface="Arial"/>
              </a:rPr>
              <a:t>perdidos</a:t>
            </a:r>
            <a:endParaRPr sz="3300" b="1" dirty="0">
              <a:solidFill>
                <a:srgbClr val="292927"/>
              </a:solidFill>
              <a:latin typeface="Arial"/>
              <a:ea typeface="Arial"/>
              <a:cs typeface="Arial"/>
            </a:endParaRPr>
          </a:p>
          <a:p>
            <a:pPr>
              <a:defRPr sz="3300" b="1">
                <a:solidFill>
                  <a:srgbClr val="292927"/>
                </a:solidFill>
                <a:latin typeface="Arial"/>
                <a:ea typeface="Arial"/>
                <a:cs typeface="Arial"/>
              </a:defRPr>
            </a:pPr>
            <a:r>
              <a:rPr sz="3300" b="1" dirty="0" err="1">
                <a:solidFill>
                  <a:srgbClr val="292927"/>
                </a:solidFill>
                <a:latin typeface="Arial"/>
                <a:ea typeface="Arial"/>
                <a:cs typeface="Arial"/>
              </a:rPr>
              <a:t>corresponden</a:t>
            </a:r>
            <a:r>
              <a:rPr sz="3300" b="1" dirty="0">
                <a:solidFill>
                  <a:srgbClr val="292927"/>
                </a:solidFill>
                <a:latin typeface="Arial"/>
                <a:ea typeface="Arial"/>
                <a:cs typeface="Arial"/>
              </a:rPr>
              <a:t> </a:t>
            </a:r>
            <a:r>
              <a:rPr sz="3300" b="1" dirty="0" smtClean="0">
                <a:solidFill>
                  <a:srgbClr val="292927"/>
                </a:solidFill>
                <a:latin typeface="Arial"/>
                <a:ea typeface="Arial"/>
                <a:cs typeface="Arial"/>
              </a:rPr>
              <a:t>a</a:t>
            </a:r>
            <a:r>
              <a:rPr lang="es-ES" sz="3300" b="1" dirty="0" smtClean="0">
                <a:solidFill>
                  <a:srgbClr val="292927"/>
                </a:solidFill>
                <a:latin typeface="Arial"/>
                <a:ea typeface="Arial"/>
                <a:cs typeface="Arial"/>
              </a:rPr>
              <a:t>l turno noche</a:t>
            </a:r>
            <a:endParaRPr sz="3300" b="1" dirty="0">
              <a:solidFill>
                <a:srgbClr val="2929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xmlns="" id="{B58F44BD-F11F-4911-B841-67352538919C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287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5959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5955"/>
                </a:solidFill>
                <a:latin typeface="Arial"/>
                <a:ea typeface="Arial"/>
                <a:cs typeface="Arial"/>
              </a:rPr>
              <a:t>eventos_limpio.parquet. Días laborales de empleados, no días de parada de planta.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xmlns="" id="{AFEA0719-DD06-4F20-8DE2-2731B8E37703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4476750" cy="1524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0" b="1">
                <a:solidFill>
                  <a:srgbClr val="82634E"/>
                </a:solidFill>
                <a:latin typeface="Arial"/>
                <a:ea typeface="Arial"/>
                <a:cs typeface="Arial"/>
              </a:defRPr>
            </a:pPr>
            <a:r>
              <a:rPr sz="9000" b="1">
                <a:solidFill>
                  <a:srgbClr val="82634E"/>
                </a:solidFill>
                <a:latin typeface="Arial"/>
                <a:ea typeface="Arial"/>
                <a:cs typeface="Arial"/>
              </a:rPr>
              <a:t>74%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xmlns="" id="{05D7DDD5-9B23-455E-A15C-6D9E51717701}"/>
              </a:ext>
            </a:extLst>
          </p:cNvPr>
          <p:cNvSpPr>
            <a:spLocks noGrp="1"/>
          </p:cNvSpPr>
          <p:nvPr/>
        </p:nvSpPr>
        <p:spPr>
          <a:xfrm>
            <a:off x="609600" y="3600450"/>
            <a:ext cx="46672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75" b="0">
                <a:solidFill>
                  <a:srgbClr val="292927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292927"/>
                </a:solidFill>
                <a:latin typeface="Arial"/>
                <a:ea typeface="Arial"/>
                <a:cs typeface="Arial"/>
              </a:rPr>
              <a:t>de los días laborales</a:t>
            </a:r>
          </a:p>
          <a:p>
            <a:pPr>
              <a:defRPr sz="2475" b="0">
                <a:solidFill>
                  <a:srgbClr val="292927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292927"/>
                </a:solidFill>
                <a:latin typeface="Arial"/>
                <a:ea typeface="Arial"/>
                <a:cs typeface="Arial"/>
              </a:rPr>
              <a:t>perdidos registrados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xmlns="" id="{17D62693-F260-4B2C-82B2-E58352D9E0D6}"/>
              </a:ext>
            </a:extLst>
          </p:cNvPr>
          <p:cNvSpPr>
            <a:spLocks noGrp="1"/>
          </p:cNvSpPr>
          <p:nvPr/>
        </p:nvSpPr>
        <p:spPr>
          <a:xfrm>
            <a:off x="6381750" y="2095500"/>
            <a:ext cx="5048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292927"/>
                </a:solidFill>
                <a:latin typeface="Arial"/>
                <a:ea typeface="Arial"/>
                <a:cs typeface="Arial"/>
              </a:defRPr>
            </a:pPr>
            <a:r>
              <a:rPr sz="2800" b="1" dirty="0">
                <a:solidFill>
                  <a:srgbClr val="292927"/>
                </a:solidFill>
                <a:latin typeface="Arial"/>
                <a:ea typeface="Arial"/>
                <a:cs typeface="Arial"/>
              </a:rPr>
              <a:t>25 de 45 </a:t>
            </a:r>
            <a:r>
              <a:rPr sz="2800" b="1" dirty="0" err="1">
                <a:solidFill>
                  <a:srgbClr val="292927"/>
                </a:solidFill>
                <a:latin typeface="Arial"/>
                <a:ea typeface="Arial"/>
                <a:cs typeface="Arial"/>
              </a:rPr>
              <a:t>incidentes</a:t>
            </a:r>
            <a:endParaRPr sz="2800" b="1" dirty="0">
              <a:solidFill>
                <a:srgbClr val="2929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xmlns="" id="{75435EFC-57E4-4725-88CD-E98B765D4B48}"/>
              </a:ext>
            </a:extLst>
          </p:cNvPr>
          <p:cNvSpPr>
            <a:spLocks noGrp="1"/>
          </p:cNvSpPr>
          <p:nvPr/>
        </p:nvSpPr>
        <p:spPr>
          <a:xfrm>
            <a:off x="6381750" y="3143250"/>
            <a:ext cx="5048250" cy="1285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29292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2927"/>
                </a:solidFill>
                <a:latin typeface="Arial"/>
                <a:ea typeface="Arial"/>
                <a:cs typeface="Arial"/>
              </a:rPr>
              <a:t>El seguimiento necesita observar</a:t>
            </a:r>
          </a:p>
          <a:p>
            <a:pPr>
              <a:defRPr sz="2175" b="0">
                <a:solidFill>
                  <a:srgbClr val="29292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2927"/>
                </a:solidFill>
                <a:latin typeface="Arial"/>
                <a:ea typeface="Arial"/>
                <a:cs typeface="Arial"/>
              </a:rPr>
              <a:t>frecuencia y consecuencias.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xmlns="" id="{21337028-E13B-4371-B980-940743AE1530}"/>
              </a:ext>
            </a:extLst>
          </p:cNvPr>
          <p:cNvSpPr>
            <a:spLocks noGrp="1"/>
          </p:cNvSpPr>
          <p:nvPr/>
        </p:nvSpPr>
        <p:spPr>
          <a:xfrm>
            <a:off x="6381750" y="4857750"/>
            <a:ext cx="504825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59595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95955"/>
                </a:solidFill>
                <a:latin typeface="Arial"/>
                <a:ea typeface="Arial"/>
                <a:cs typeface="Arial"/>
              </a:rPr>
              <a:t>Impacto observado. No demuestra</a:t>
            </a:r>
          </a:p>
          <a:p>
            <a:pPr>
              <a:defRPr sz="1800" b="0">
                <a:solidFill>
                  <a:srgbClr val="59595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95955"/>
                </a:solidFill>
                <a:latin typeface="Arial"/>
                <a:ea typeface="Arial"/>
                <a:cs typeface="Arial"/>
              </a:rPr>
              <a:t>una causa ni un patrón de gravedad.</a:t>
            </a:r>
          </a:p>
        </p:txBody>
      </p:sp>
    </p:spTree>
    <p:extLst>
      <p:ext uri="{BB962C8B-B14F-4D97-AF65-F5344CB8AC3E}">
        <p14:creationId xmlns:p14="http://schemas.microsoft.com/office/powerpoint/2010/main" val="964224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xmlns="" id="{F987F598-0FC6-45F2-85CF-D47BA0F2B14F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53750" cy="1104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292927"/>
                </a:solidFill>
                <a:latin typeface="Arial"/>
                <a:ea typeface="Arial"/>
                <a:cs typeface="Arial"/>
              </a:defRPr>
            </a:pPr>
            <a:r>
              <a:rPr sz="3300" b="1" dirty="0">
                <a:solidFill>
                  <a:srgbClr val="292927"/>
                </a:solidFill>
                <a:latin typeface="Arial"/>
                <a:ea typeface="Arial"/>
                <a:cs typeface="Arial"/>
              </a:rPr>
              <a:t>Dos </a:t>
            </a:r>
            <a:r>
              <a:rPr sz="3300" b="1" dirty="0" err="1">
                <a:solidFill>
                  <a:srgbClr val="292927"/>
                </a:solidFill>
                <a:latin typeface="Arial"/>
                <a:ea typeface="Arial"/>
                <a:cs typeface="Arial"/>
              </a:rPr>
              <a:t>fuentes</a:t>
            </a:r>
            <a:r>
              <a:rPr sz="3300" b="1" dirty="0">
                <a:solidFill>
                  <a:srgbClr val="292927"/>
                </a:solidFill>
                <a:latin typeface="Arial"/>
                <a:ea typeface="Arial"/>
                <a:cs typeface="Arial"/>
              </a:rPr>
              <a:t> de </a:t>
            </a:r>
            <a:r>
              <a:rPr sz="3300" b="1" dirty="0" err="1" smtClean="0">
                <a:solidFill>
                  <a:srgbClr val="292927"/>
                </a:solidFill>
                <a:latin typeface="Arial"/>
                <a:ea typeface="Arial"/>
                <a:cs typeface="Arial"/>
              </a:rPr>
              <a:t>incidentes</a:t>
            </a:r>
            <a:r>
              <a:rPr lang="es-ES" sz="3300" b="1" dirty="0" smtClean="0">
                <a:solidFill>
                  <a:srgbClr val="292927"/>
                </a:solidFill>
                <a:latin typeface="Arial"/>
                <a:ea typeface="Arial"/>
                <a:cs typeface="Arial"/>
              </a:rPr>
              <a:t>, una sola confiable</a:t>
            </a:r>
            <a:endParaRPr sz="3300" b="1" dirty="0">
              <a:solidFill>
                <a:srgbClr val="2929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xmlns="" id="{7B49B9CF-3F84-4851-84CC-1D81B8E059CD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287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5959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5955"/>
                </a:solidFill>
                <a:latin typeface="Arial"/>
                <a:ea typeface="Arial"/>
                <a:cs typeface="Arial"/>
              </a:rPr>
              <a:t>01_matriz_evidencia.md, filas 4 y 5. Las discrepancias requieren revisión de casos.</a:t>
            </a:r>
          </a:p>
        </p:txBody>
      </p:sp>
      <p:graphicFrame>
        <p:nvGraphicFramePr>
          <p:cNvPr id="10" name="Tabla 9"/>
          <p:cNvGraphicFramePr/>
          <p:nvPr/>
        </p:nvGraphicFramePr>
        <p:xfrm>
          <a:off x="609600" y="1809750"/>
          <a:ext cx="10953750" cy="3000376"/>
        </p:xfrm>
        <a:graphic>
          <a:graphicData uri="http://schemas.openxmlformats.org/drawingml/2006/table">
            <a:tbl>
              <a:tblPr/>
              <a:tblGrid>
                <a:gridCol w="5048250"/>
                <a:gridCol w="5905500"/>
              </a:tblGrid>
              <a:tr h="750094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Observación</a:t>
                      </a:r>
                    </a:p>
                  </a:txBody>
                  <a:tcPr>
                    <a:solidFill>
                      <a:srgbClr val="2929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Comprobación necesaria</a:t>
                      </a:r>
                    </a:p>
                  </a:txBody>
                  <a:tcPr>
                    <a:solidFill>
                      <a:srgbClr val="292927"/>
                    </a:solidFill>
                  </a:tcPr>
                </a:tc>
              </a:tr>
              <a:tr h="750094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92927"/>
                          </a:solidFill>
                          <a:latin typeface="Arial"/>
                          <a:ea typeface="Arial"/>
                          <a:cs typeface="Arial"/>
                        </a:rPr>
                        <a:t>100 incidentes en panel y 45 con ficha</a:t>
                      </a:r>
                    </a:p>
                  </a:txBody>
                  <a:tcPr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92927"/>
                          </a:solidFill>
                          <a:latin typeface="Arial"/>
                          <a:ea typeface="Arial"/>
                          <a:cs typeface="Arial"/>
                        </a:rPr>
                        <a:t>Definición, fechas y posibles duplicados</a:t>
                      </a:r>
                    </a:p>
                  </a:txBody>
                  <a:tcPr>
                    <a:solidFill>
                      <a:srgbClr val="F5F1E8"/>
                    </a:solidFill>
                  </a:tcPr>
                </a:tc>
              </a:tr>
              <a:tr h="750094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92927"/>
                          </a:solidFill>
                          <a:latin typeface="Arial"/>
                          <a:ea typeface="Arial"/>
                          <a:cs typeface="Arial"/>
                        </a:rPr>
                        <a:t>Turno de la persona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92927"/>
                          </a:solidFill>
                          <a:latin typeface="Arial"/>
                          <a:ea typeface="Arial"/>
                          <a:cs typeface="Arial"/>
                        </a:rPr>
                        <a:t>Hora real y parte del hecho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50094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92927"/>
                          </a:solidFill>
                          <a:latin typeface="Arial"/>
                          <a:ea typeface="Arial"/>
                          <a:cs typeface="Arial"/>
                        </a:rPr>
                        <a:t>Acciones correctivas genéricas o ausentes</a:t>
                      </a:r>
                    </a:p>
                  </a:txBody>
                  <a:tcPr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92927"/>
                          </a:solidFill>
                          <a:latin typeface="Arial"/>
                          <a:ea typeface="Arial"/>
                          <a:cs typeface="Arial"/>
                        </a:rPr>
                        <a:t>Evidencia y decisión asociada a cada caso</a:t>
                      </a:r>
                    </a:p>
                  </a:txBody>
                  <a:tcPr>
                    <a:solidFill>
                      <a:srgbClr val="F5F1E8"/>
                    </a:solidFill>
                  </a:tcPr>
                </a:tc>
              </a:tr>
            </a:tbl>
          </a:graphicData>
        </a:graphic>
      </p:graphicFrame>
      <p:sp>
        <p:nvSpPr>
          <p:cNvPr id="5" name="Rectángulo 4">
            <a:extLst>
              <a:ext uri="{FF2B5EF4-FFF2-40B4-BE49-F238E27FC236}">
                <a16:creationId xmlns:a16="http://schemas.microsoft.com/office/drawing/2014/main" xmlns="" id="{CAD68C01-06D0-43E6-94FC-518BB9F33D58}"/>
              </a:ext>
            </a:extLst>
          </p:cNvPr>
          <p:cNvSpPr>
            <a:spLocks noGrp="1"/>
          </p:cNvSpPr>
          <p:nvPr/>
        </p:nvSpPr>
        <p:spPr>
          <a:xfrm>
            <a:off x="609600" y="523875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29292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92927"/>
                </a:solidFill>
                <a:latin typeface="Arial"/>
                <a:ea typeface="Arial"/>
                <a:cs typeface="Arial"/>
              </a:rPr>
              <a:t>Primero comprobamos qué cuenta cada fuente.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xmlns="" id="{AFF58AF5-E4A4-4635-AA06-49532F6AB964}"/>
              </a:ext>
            </a:extLst>
          </p:cNvPr>
          <p:cNvSpPr>
            <a:spLocks noGrp="1"/>
          </p:cNvSpPr>
          <p:nvPr/>
        </p:nvSpPr>
        <p:spPr>
          <a:xfrm>
            <a:off x="609600" y="5838825"/>
            <a:ext cx="10763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59595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95955"/>
                </a:solidFill>
                <a:latin typeface="Arial"/>
                <a:ea typeface="Arial"/>
                <a:cs typeface="Arial"/>
              </a:rPr>
              <a:t>La diferencia no prueba que falten 55 accidentes.</a:t>
            </a:r>
          </a:p>
        </p:txBody>
      </p:sp>
    </p:spTree>
    <p:extLst>
      <p:ext uri="{BB962C8B-B14F-4D97-AF65-F5344CB8AC3E}">
        <p14:creationId xmlns:p14="http://schemas.microsoft.com/office/powerpoint/2010/main" val="2711165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xmlns="" id="{4B053DD8-0A84-4D6A-9A89-4C581BEC3884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53750" cy="1104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292927"/>
                </a:solidFill>
                <a:latin typeface="Arial"/>
                <a:ea typeface="Arial"/>
                <a:cs typeface="Arial"/>
              </a:defRPr>
            </a:pPr>
            <a:r>
              <a:rPr sz="3300" b="1" dirty="0">
                <a:solidFill>
                  <a:srgbClr val="292927"/>
                </a:solidFill>
                <a:latin typeface="Arial"/>
                <a:ea typeface="Arial"/>
                <a:cs typeface="Arial"/>
              </a:rPr>
              <a:t>Del </a:t>
            </a:r>
            <a:r>
              <a:rPr sz="3300" b="1" dirty="0" err="1">
                <a:solidFill>
                  <a:srgbClr val="292927"/>
                </a:solidFill>
                <a:latin typeface="Arial"/>
                <a:ea typeface="Arial"/>
                <a:cs typeface="Arial"/>
              </a:rPr>
              <a:t>incidente</a:t>
            </a:r>
            <a:r>
              <a:rPr sz="3300" b="1" dirty="0">
                <a:solidFill>
                  <a:srgbClr val="292927"/>
                </a:solidFill>
                <a:latin typeface="Arial"/>
                <a:ea typeface="Arial"/>
                <a:cs typeface="Arial"/>
              </a:rPr>
              <a:t> a </a:t>
            </a:r>
            <a:r>
              <a:rPr sz="3300" b="1" dirty="0" err="1">
                <a:solidFill>
                  <a:srgbClr val="292927"/>
                </a:solidFill>
                <a:latin typeface="Arial"/>
                <a:ea typeface="Arial"/>
                <a:cs typeface="Arial"/>
              </a:rPr>
              <a:t>una</a:t>
            </a:r>
            <a:r>
              <a:rPr sz="3300" b="1" dirty="0">
                <a:solidFill>
                  <a:srgbClr val="292927"/>
                </a:solidFill>
                <a:latin typeface="Arial"/>
                <a:ea typeface="Arial"/>
                <a:cs typeface="Arial"/>
              </a:rPr>
              <a:t> </a:t>
            </a:r>
            <a:r>
              <a:rPr sz="3300" b="1" dirty="0" err="1" smtClean="0">
                <a:solidFill>
                  <a:srgbClr val="292927"/>
                </a:solidFill>
                <a:latin typeface="Arial"/>
                <a:ea typeface="Arial"/>
                <a:cs typeface="Arial"/>
              </a:rPr>
              <a:t>acción</a:t>
            </a:r>
            <a:r>
              <a:rPr lang="es-ES" sz="3300" b="1" dirty="0">
                <a:solidFill>
                  <a:srgbClr val="292927"/>
                </a:solidFill>
                <a:latin typeface="Arial"/>
                <a:ea typeface="Arial"/>
                <a:cs typeface="Arial"/>
              </a:rPr>
              <a:t> </a:t>
            </a:r>
            <a:r>
              <a:rPr sz="3300" b="1" dirty="0" err="1" smtClean="0">
                <a:solidFill>
                  <a:srgbClr val="292927"/>
                </a:solidFill>
                <a:latin typeface="Arial"/>
                <a:ea typeface="Arial"/>
                <a:cs typeface="Arial"/>
              </a:rPr>
              <a:t>correctiva</a:t>
            </a:r>
            <a:endParaRPr sz="3300" b="1" dirty="0">
              <a:solidFill>
                <a:srgbClr val="2929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xmlns="" id="{83CFFD18-20CA-4CED-8BBB-3A654FDD3E98}"/>
              </a:ext>
            </a:extLst>
          </p:cNvPr>
          <p:cNvSpPr>
            <a:spLocks noGrp="1"/>
          </p:cNvSpPr>
          <p:nvPr/>
        </p:nvSpPr>
        <p:spPr>
          <a:xfrm>
            <a:off x="11096625" y="6334125"/>
            <a:ext cx="52387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959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595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xmlns="" id="{39A0797F-81AE-4455-A175-2306F45B3780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287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5959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5955"/>
                </a:solidFill>
                <a:latin typeface="Arial"/>
                <a:ea typeface="Arial"/>
                <a:cs typeface="Arial"/>
              </a:rPr>
              <a:t>02_guion_ejecutivo.md A.5. Secuencia de mejora propuesta.</a:t>
            </a:r>
          </a:p>
        </p:txBody>
      </p:sp>
      <p:graphicFrame>
        <p:nvGraphicFramePr>
          <p:cNvPr id="9" name="Tabla 8"/>
          <p:cNvGraphicFramePr/>
          <p:nvPr>
            <p:extLst>
              <p:ext uri="{D42A27DB-BD31-4B8C-83A1-F6EECF244321}">
                <p14:modId xmlns:p14="http://schemas.microsoft.com/office/powerpoint/2010/main" val="3290358214"/>
              </p:ext>
            </p:extLst>
          </p:nvPr>
        </p:nvGraphicFramePr>
        <p:xfrm>
          <a:off x="609600" y="1695450"/>
          <a:ext cx="10953750" cy="3429000"/>
        </p:xfrm>
        <a:graphic>
          <a:graphicData uri="http://schemas.openxmlformats.org/drawingml/2006/table">
            <a:tbl>
              <a:tblPr/>
              <a:tblGrid>
                <a:gridCol w="3429000"/>
                <a:gridCol w="7524750"/>
              </a:tblGrid>
              <a:tr h="685800">
                <a:tc>
                  <a:txBody>
                    <a:bodyPr/>
                    <a:lstStyle/>
                    <a:p>
                      <a:r>
                        <a:rPr sz="1875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Paso</a:t>
                      </a:r>
                    </a:p>
                  </a:txBody>
                  <a:tcPr>
                    <a:solidFill>
                      <a:srgbClr val="2929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Qué debe quedar registrado</a:t>
                      </a:r>
                    </a:p>
                  </a:txBody>
                  <a:tcPr>
                    <a:solidFill>
                      <a:srgbClr val="29292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 dirty="0">
                          <a:solidFill>
                            <a:srgbClr val="292927"/>
                          </a:solidFill>
                          <a:latin typeface="Arial"/>
                          <a:ea typeface="Arial"/>
                          <a:cs typeface="Arial"/>
                        </a:rPr>
                        <a:t>1. </a:t>
                      </a:r>
                      <a:r>
                        <a:rPr lang="es-ES" sz="1875" b="0" dirty="0" smtClean="0">
                          <a:solidFill>
                            <a:srgbClr val="292927"/>
                          </a:solidFill>
                          <a:latin typeface="Arial"/>
                          <a:ea typeface="Arial"/>
                          <a:cs typeface="Arial"/>
                        </a:rPr>
                        <a:t>Anotar que se estaba haciendo</a:t>
                      </a:r>
                      <a:endParaRPr sz="1875" b="0" dirty="0">
                        <a:solidFill>
                          <a:srgbClr val="292927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92927"/>
                          </a:solidFill>
                          <a:latin typeface="Arial"/>
                          <a:ea typeface="Arial"/>
                          <a:cs typeface="Arial"/>
                        </a:rPr>
                        <a:t>Tarea, equipo, condición y hora validada</a:t>
                      </a:r>
                    </a:p>
                  </a:txBody>
                  <a:tcPr>
                    <a:solidFill>
                      <a:srgbClr val="F5F1E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92927"/>
                          </a:solidFill>
                          <a:latin typeface="Arial"/>
                          <a:ea typeface="Arial"/>
                          <a:cs typeface="Arial"/>
                        </a:rPr>
                        <a:t>2. Investigar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92927"/>
                          </a:solidFill>
                          <a:latin typeface="Arial"/>
                          <a:ea typeface="Arial"/>
                          <a:cs typeface="Arial"/>
                        </a:rPr>
                        <a:t>Evidencia y explicación por contrastar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92927"/>
                          </a:solidFill>
                          <a:latin typeface="Arial"/>
                          <a:ea typeface="Arial"/>
                          <a:cs typeface="Arial"/>
                        </a:rPr>
                        <a:t>3. Elegir una acción</a:t>
                      </a:r>
                    </a:p>
                  </a:txBody>
                  <a:tcPr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92927"/>
                          </a:solidFill>
                          <a:latin typeface="Arial"/>
                          <a:ea typeface="Arial"/>
                          <a:cs typeface="Arial"/>
                        </a:rPr>
                        <a:t>Corrección específica vinculada con el hecho</a:t>
                      </a:r>
                    </a:p>
                  </a:txBody>
                  <a:tcPr>
                    <a:solidFill>
                      <a:srgbClr val="F5F1E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92927"/>
                          </a:solidFill>
                          <a:latin typeface="Arial"/>
                          <a:ea typeface="Arial"/>
                          <a:cs typeface="Arial"/>
                        </a:rPr>
                        <a:t>4. Comprobar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92927"/>
                          </a:solidFill>
                          <a:latin typeface="Arial"/>
                          <a:ea typeface="Arial"/>
                          <a:cs typeface="Arial"/>
                        </a:rPr>
                        <a:t>Ejecución y revisión de recurrencias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ángulo 4">
            <a:extLst>
              <a:ext uri="{FF2B5EF4-FFF2-40B4-BE49-F238E27FC236}">
                <a16:creationId xmlns:a16="http://schemas.microsoft.com/office/drawing/2014/main" xmlns="" id="{5C1ABE83-FC3A-4D74-AD9F-2333652972CA}"/>
              </a:ext>
            </a:extLst>
          </p:cNvPr>
          <p:cNvSpPr>
            <a:spLocks noGrp="1"/>
          </p:cNvSpPr>
          <p:nvPr/>
        </p:nvSpPr>
        <p:spPr>
          <a:xfrm>
            <a:off x="609600" y="5448300"/>
            <a:ext cx="1085850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29292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92927"/>
                </a:solidFill>
                <a:latin typeface="Arial"/>
                <a:ea typeface="Arial"/>
                <a:cs typeface="Arial"/>
              </a:rPr>
              <a:t>En el registro: 30 fichas sin acción registrada y 15 con la misma frase genérica. Al corregir, escalonar los cambios por área para poder comparar.</a:t>
            </a:r>
          </a:p>
        </p:txBody>
      </p:sp>
    </p:spTree>
    <p:extLst>
      <p:ext uri="{BB962C8B-B14F-4D97-AF65-F5344CB8AC3E}">
        <p14:creationId xmlns:p14="http://schemas.microsoft.com/office/powerpoint/2010/main" val="20436120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xmlns="" id="{D52BF51D-C3EE-4BCF-9B61-A8ED3F051531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53750" cy="1104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292927"/>
                </a:solidFill>
                <a:latin typeface="Arial"/>
                <a:ea typeface="Arial"/>
                <a:cs typeface="Arial"/>
              </a:defRPr>
            </a:pPr>
            <a:r>
              <a:rPr lang="es-ES" sz="3300" b="1" dirty="0" smtClean="0">
                <a:solidFill>
                  <a:srgbClr val="292927"/>
                </a:solidFill>
                <a:latin typeface="Arial"/>
                <a:ea typeface="Arial"/>
                <a:cs typeface="Arial"/>
              </a:rPr>
              <a:t>No sabemos si la capacitación sirve como </a:t>
            </a:r>
            <a:r>
              <a:rPr sz="3300" b="1" dirty="0" err="1" smtClean="0">
                <a:solidFill>
                  <a:srgbClr val="292927"/>
                </a:solidFill>
                <a:latin typeface="Arial"/>
                <a:ea typeface="Arial"/>
                <a:cs typeface="Arial"/>
              </a:rPr>
              <a:t>prevención</a:t>
            </a:r>
            <a:endParaRPr sz="3300" b="1" dirty="0">
              <a:solidFill>
                <a:srgbClr val="2929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xmlns="" id="{1E1CCCFF-4218-40C5-9717-B679510E5BCF}"/>
              </a:ext>
            </a:extLst>
          </p:cNvPr>
          <p:cNvSpPr>
            <a:spLocks noGrp="1"/>
          </p:cNvSpPr>
          <p:nvPr/>
        </p:nvSpPr>
        <p:spPr>
          <a:xfrm>
            <a:off x="0" y="6476320"/>
            <a:ext cx="10287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5959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5955"/>
                </a:solidFill>
                <a:latin typeface="Arial"/>
                <a:ea typeface="Arial"/>
                <a:cs typeface="Arial"/>
              </a:rPr>
              <a:t>04_puente_discovery_automation.md, entrega 8, I8. Sobre 45 incidentes.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804" y="1533525"/>
            <a:ext cx="11324546" cy="4761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256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xmlns="" id="{B785F274-32E3-45E7-9AB2-24B2883D49F0}"/>
              </a:ext>
            </a:extLst>
          </p:cNvPr>
          <p:cNvSpPr>
            <a:spLocks noGrp="1"/>
          </p:cNvSpPr>
          <p:nvPr/>
        </p:nvSpPr>
        <p:spPr>
          <a:xfrm>
            <a:off x="0" y="6562725"/>
            <a:ext cx="10287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595955"/>
                </a:solidFill>
                <a:latin typeface="Arial"/>
                <a:ea typeface="Arial"/>
                <a:cs typeface="Arial"/>
              </a:defRPr>
            </a:pPr>
            <a:r>
              <a:rPr sz="1125" b="0" dirty="0">
                <a:solidFill>
                  <a:srgbClr val="595955"/>
                </a:solidFill>
                <a:latin typeface="Arial"/>
                <a:ea typeface="Arial"/>
                <a:cs typeface="Arial"/>
              </a:rPr>
              <a:t>02_guion_ejecutivo.md B.3. </a:t>
            </a:r>
            <a:r>
              <a:rPr sz="1125" b="0" dirty="0" err="1">
                <a:solidFill>
                  <a:srgbClr val="595955"/>
                </a:solidFill>
                <a:latin typeface="Arial"/>
                <a:ea typeface="Arial"/>
                <a:cs typeface="Arial"/>
              </a:rPr>
              <a:t>Medianas</a:t>
            </a:r>
            <a:r>
              <a:rPr sz="1125" b="0" dirty="0">
                <a:solidFill>
                  <a:srgbClr val="595955"/>
                </a:solidFill>
                <a:latin typeface="Arial"/>
                <a:ea typeface="Arial"/>
                <a:cs typeface="Arial"/>
              </a:rPr>
              <a:t> </a:t>
            </a:r>
            <a:r>
              <a:rPr sz="1125" b="0" dirty="0" err="1">
                <a:solidFill>
                  <a:srgbClr val="595955"/>
                </a:solidFill>
                <a:latin typeface="Arial"/>
                <a:ea typeface="Arial"/>
                <a:cs typeface="Arial"/>
              </a:rPr>
              <a:t>mensuales</a:t>
            </a:r>
            <a:r>
              <a:rPr sz="1125" b="0" dirty="0">
                <a:solidFill>
                  <a:srgbClr val="595955"/>
                </a:solidFill>
                <a:latin typeface="Arial"/>
                <a:ea typeface="Arial"/>
                <a:cs typeface="Arial"/>
              </a:rPr>
              <a:t> </a:t>
            </a:r>
            <a:r>
              <a:rPr sz="1125" b="0" dirty="0" err="1">
                <a:solidFill>
                  <a:srgbClr val="595955"/>
                </a:solidFill>
                <a:latin typeface="Arial"/>
                <a:ea typeface="Arial"/>
                <a:cs typeface="Arial"/>
              </a:rPr>
              <a:t>por</a:t>
            </a:r>
            <a:r>
              <a:rPr sz="1125" b="0" dirty="0">
                <a:solidFill>
                  <a:srgbClr val="595955"/>
                </a:solidFill>
                <a:latin typeface="Arial"/>
                <a:ea typeface="Arial"/>
                <a:cs typeface="Arial"/>
              </a:rPr>
              <a:t> </a:t>
            </a:r>
            <a:r>
              <a:rPr sz="1125" b="0" dirty="0" err="1">
                <a:solidFill>
                  <a:srgbClr val="595955"/>
                </a:solidFill>
                <a:latin typeface="Arial"/>
                <a:ea typeface="Arial"/>
                <a:cs typeface="Arial"/>
              </a:rPr>
              <a:t>empleado</a:t>
            </a:r>
            <a:r>
              <a:rPr sz="1125" b="0" dirty="0">
                <a:solidFill>
                  <a:srgbClr val="595955"/>
                </a:solidFill>
                <a:latin typeface="Arial"/>
                <a:ea typeface="Arial"/>
                <a:cs typeface="Arial"/>
              </a:rPr>
              <a:t>, </a:t>
            </a:r>
            <a:r>
              <a:rPr sz="1125" b="0" dirty="0" err="1">
                <a:solidFill>
                  <a:srgbClr val="595955"/>
                </a:solidFill>
                <a:latin typeface="Arial"/>
                <a:ea typeface="Arial"/>
                <a:cs typeface="Arial"/>
              </a:rPr>
              <a:t>enero</a:t>
            </a:r>
            <a:r>
              <a:rPr sz="1125" b="0" dirty="0">
                <a:solidFill>
                  <a:srgbClr val="595955"/>
                </a:solidFill>
                <a:latin typeface="Arial"/>
                <a:ea typeface="Arial"/>
                <a:cs typeface="Arial"/>
              </a:rPr>
              <a:t> 2024 a mayo 2025.</a:t>
            </a:r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609" y="902362"/>
            <a:ext cx="9013106" cy="4877951"/>
          </a:xfrm>
          <a:prstGeom prst="rect">
            <a:avLst/>
          </a:prstGeom>
        </p:spPr>
      </p:pic>
      <p:sp>
        <p:nvSpPr>
          <p:cNvPr id="14" name="Rectángulo 13">
            <a:extLst>
              <a:ext uri="{FF2B5EF4-FFF2-40B4-BE49-F238E27FC236}">
                <a16:creationId xmlns:a16="http://schemas.microsoft.com/office/drawing/2014/main" xmlns="" id="{6D22ADB9-A8DB-4FE1-8D59-0271732AA858}"/>
              </a:ext>
            </a:extLst>
          </p:cNvPr>
          <p:cNvSpPr>
            <a:spLocks noGrp="1"/>
          </p:cNvSpPr>
          <p:nvPr/>
        </p:nvSpPr>
        <p:spPr>
          <a:xfrm>
            <a:off x="9361715" y="1426710"/>
            <a:ext cx="60960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292927"/>
                </a:solidFill>
                <a:latin typeface="Arial"/>
                <a:ea typeface="Arial"/>
                <a:cs typeface="Arial"/>
              </a:defRPr>
            </a:pPr>
            <a:r>
              <a:rPr sz="2000" b="1" dirty="0">
                <a:solidFill>
                  <a:srgbClr val="292927"/>
                </a:solidFill>
                <a:latin typeface="Arial"/>
                <a:ea typeface="Arial"/>
                <a:cs typeface="Arial"/>
              </a:rPr>
              <a:t>IC 95%: 22,7% a 49,2%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xmlns="" id="{E37C5773-30EA-4AE9-8E2A-7BB800921D36}"/>
              </a:ext>
            </a:extLst>
          </p:cNvPr>
          <p:cNvSpPr>
            <a:spLocks noGrp="1"/>
          </p:cNvSpPr>
          <p:nvPr/>
        </p:nvSpPr>
        <p:spPr>
          <a:xfrm>
            <a:off x="5421087" y="6064024"/>
            <a:ext cx="634637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292927"/>
                </a:solidFill>
                <a:latin typeface="Arial"/>
                <a:ea typeface="Arial"/>
                <a:cs typeface="Arial"/>
              </a:defRPr>
            </a:pPr>
            <a:r>
              <a:rPr sz="2100" b="1" dirty="0" err="1">
                <a:solidFill>
                  <a:srgbClr val="292927"/>
                </a:solidFill>
                <a:latin typeface="Arial"/>
                <a:ea typeface="Arial"/>
                <a:cs typeface="Arial"/>
              </a:rPr>
              <a:t>Entrevistas</a:t>
            </a:r>
            <a:r>
              <a:rPr sz="2100" b="1" dirty="0">
                <a:solidFill>
                  <a:srgbClr val="292927"/>
                </a:solidFill>
                <a:latin typeface="Arial"/>
                <a:ea typeface="Arial"/>
                <a:cs typeface="Arial"/>
              </a:rPr>
              <a:t> de </a:t>
            </a:r>
            <a:r>
              <a:rPr sz="2100" b="1" dirty="0" err="1" smtClean="0">
                <a:solidFill>
                  <a:srgbClr val="292927"/>
                </a:solidFill>
                <a:latin typeface="Arial"/>
                <a:ea typeface="Arial"/>
                <a:cs typeface="Arial"/>
              </a:rPr>
              <a:t>salida</a:t>
            </a:r>
            <a:r>
              <a:rPr lang="es-ES" sz="2100" b="1" dirty="0">
                <a:solidFill>
                  <a:srgbClr val="292927"/>
                </a:solidFill>
                <a:latin typeface="Arial"/>
                <a:ea typeface="Arial"/>
                <a:cs typeface="Arial"/>
              </a:rPr>
              <a:t> </a:t>
            </a:r>
            <a:r>
              <a:rPr lang="es-ES" sz="2100" b="1" dirty="0" smtClean="0">
                <a:solidFill>
                  <a:srgbClr val="292927"/>
                </a:solidFill>
                <a:latin typeface="Arial"/>
                <a:ea typeface="Arial"/>
                <a:cs typeface="Arial"/>
                <a:sym typeface="Wingdings" panose="05000000000000000000" pitchFamily="2" charset="2"/>
              </a:rPr>
              <a:t> entender </a:t>
            </a:r>
            <a:r>
              <a:rPr sz="2100" b="1" dirty="0" err="1" smtClean="0">
                <a:solidFill>
                  <a:srgbClr val="292927"/>
                </a:solidFill>
                <a:latin typeface="Arial"/>
                <a:ea typeface="Arial"/>
                <a:cs typeface="Arial"/>
              </a:rPr>
              <a:t>los</a:t>
            </a:r>
            <a:r>
              <a:rPr sz="2100" b="1" dirty="0" smtClean="0">
                <a:solidFill>
                  <a:srgbClr val="292927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dirty="0" err="1">
                <a:solidFill>
                  <a:srgbClr val="292927"/>
                </a:solidFill>
                <a:latin typeface="Arial"/>
                <a:ea typeface="Arial"/>
                <a:cs typeface="Arial"/>
              </a:rPr>
              <a:t>motivos</a:t>
            </a:r>
            <a:endParaRPr sz="2100" b="1" dirty="0">
              <a:solidFill>
                <a:srgbClr val="2929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xmlns="" id="{B37F80C0-376C-41CE-AF4C-0079C3B23DEB}"/>
              </a:ext>
            </a:extLst>
          </p:cNvPr>
          <p:cNvSpPr>
            <a:spLocks noGrp="1"/>
          </p:cNvSpPr>
          <p:nvPr/>
        </p:nvSpPr>
        <p:spPr>
          <a:xfrm>
            <a:off x="609600" y="252413"/>
            <a:ext cx="10953750" cy="1104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292927"/>
                </a:solidFill>
                <a:latin typeface="Arial"/>
                <a:ea typeface="Arial"/>
                <a:cs typeface="Arial"/>
              </a:defRPr>
            </a:pPr>
            <a:r>
              <a:rPr lang="es-ES" sz="3300" b="1" dirty="0" smtClean="0">
                <a:solidFill>
                  <a:srgbClr val="292927"/>
                </a:solidFill>
                <a:latin typeface="Arial"/>
                <a:ea typeface="Arial"/>
                <a:cs typeface="Arial"/>
              </a:rPr>
              <a:t>Prioridad: Rotación en </a:t>
            </a:r>
            <a:r>
              <a:rPr sz="3300" b="1" dirty="0" err="1" smtClean="0">
                <a:solidFill>
                  <a:srgbClr val="292927"/>
                </a:solidFill>
                <a:latin typeface="Arial"/>
                <a:ea typeface="Arial"/>
                <a:cs typeface="Arial"/>
              </a:rPr>
              <a:t>Mantenimiento</a:t>
            </a:r>
            <a:r>
              <a:rPr sz="3300" b="1" dirty="0" smtClean="0">
                <a:solidFill>
                  <a:srgbClr val="292927"/>
                </a:solidFill>
                <a:latin typeface="Arial"/>
                <a:ea typeface="Arial"/>
                <a:cs typeface="Arial"/>
              </a:rPr>
              <a:t> </a:t>
            </a:r>
            <a:r>
              <a:rPr sz="3300" b="1" dirty="0" err="1" smtClean="0">
                <a:solidFill>
                  <a:srgbClr val="292927"/>
                </a:solidFill>
                <a:latin typeface="Arial"/>
                <a:ea typeface="Arial"/>
                <a:cs typeface="Arial"/>
              </a:rPr>
              <a:t>Eléctrico</a:t>
            </a:r>
            <a:endParaRPr sz="3300" b="1" dirty="0">
              <a:solidFill>
                <a:srgbClr val="292927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238087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xmlns="" id="{DBB918DC-0D61-4E7B-A38C-21765760DF24}"/>
              </a:ext>
            </a:extLst>
          </p:cNvPr>
          <p:cNvSpPr>
            <a:spLocks noGrp="1"/>
          </p:cNvSpPr>
          <p:nvPr/>
        </p:nvSpPr>
        <p:spPr>
          <a:xfrm>
            <a:off x="1491343" y="263297"/>
            <a:ext cx="10953750" cy="1104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292927"/>
                </a:solidFill>
                <a:latin typeface="Arial"/>
                <a:ea typeface="Arial"/>
                <a:cs typeface="Arial"/>
              </a:defRPr>
            </a:pPr>
            <a:r>
              <a:rPr lang="es-ES" sz="3300" b="1" dirty="0" smtClean="0">
                <a:solidFill>
                  <a:srgbClr val="292927"/>
                </a:solidFill>
                <a:latin typeface="Arial"/>
                <a:ea typeface="Arial"/>
                <a:cs typeface="Arial"/>
              </a:rPr>
              <a:t>Se van cuando ya están formados</a:t>
            </a:r>
            <a:endParaRPr sz="3300" b="1" dirty="0">
              <a:solidFill>
                <a:srgbClr val="292927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3140" y="1110342"/>
            <a:ext cx="7219920" cy="4586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9942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xmlns="" id="{DBB918DC-0D61-4E7B-A38C-21765760DF24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53750" cy="1104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292927"/>
                </a:solidFill>
                <a:latin typeface="Arial"/>
                <a:ea typeface="Arial"/>
                <a:cs typeface="Arial"/>
              </a:defRPr>
            </a:pPr>
            <a:r>
              <a:rPr sz="3300" b="1" dirty="0">
                <a:solidFill>
                  <a:srgbClr val="292927"/>
                </a:solidFill>
                <a:latin typeface="Arial"/>
                <a:ea typeface="Arial"/>
                <a:cs typeface="Arial"/>
              </a:rPr>
              <a:t>Las horas extra </a:t>
            </a:r>
            <a:r>
              <a:rPr lang="es-ES" sz="3300" b="1" dirty="0" smtClean="0">
                <a:solidFill>
                  <a:srgbClr val="292927"/>
                </a:solidFill>
                <a:latin typeface="Arial"/>
                <a:ea typeface="Arial"/>
                <a:cs typeface="Arial"/>
              </a:rPr>
              <a:t>se concentran en 6 </a:t>
            </a:r>
            <a:r>
              <a:rPr lang="es-ES" sz="3300" b="1" dirty="0" err="1" smtClean="0">
                <a:solidFill>
                  <a:srgbClr val="292927"/>
                </a:solidFill>
                <a:latin typeface="Arial"/>
                <a:ea typeface="Arial"/>
                <a:cs typeface="Arial"/>
              </a:rPr>
              <a:t>areas</a:t>
            </a:r>
            <a:endParaRPr sz="3300" b="1" dirty="0">
              <a:solidFill>
                <a:srgbClr val="2929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xmlns="" id="{B785F274-32E3-45E7-9AB2-24B2883D49F0}"/>
              </a:ext>
            </a:extLst>
          </p:cNvPr>
          <p:cNvSpPr>
            <a:spLocks noGrp="1"/>
          </p:cNvSpPr>
          <p:nvPr/>
        </p:nvSpPr>
        <p:spPr>
          <a:xfrm>
            <a:off x="0" y="6500812"/>
            <a:ext cx="10287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595955"/>
                </a:solidFill>
                <a:latin typeface="Arial"/>
                <a:ea typeface="Arial"/>
                <a:cs typeface="Arial"/>
              </a:defRPr>
            </a:pPr>
            <a:r>
              <a:rPr sz="1125" b="0" dirty="0">
                <a:solidFill>
                  <a:srgbClr val="595955"/>
                </a:solidFill>
                <a:latin typeface="Arial"/>
                <a:ea typeface="Arial"/>
                <a:cs typeface="Arial"/>
              </a:rPr>
              <a:t>02_guion_ejecutivo.md B.3. </a:t>
            </a:r>
            <a:r>
              <a:rPr sz="1125" b="0" dirty="0" err="1">
                <a:solidFill>
                  <a:srgbClr val="595955"/>
                </a:solidFill>
                <a:latin typeface="Arial"/>
                <a:ea typeface="Arial"/>
                <a:cs typeface="Arial"/>
              </a:rPr>
              <a:t>Medianas</a:t>
            </a:r>
            <a:r>
              <a:rPr sz="1125" b="0" dirty="0">
                <a:solidFill>
                  <a:srgbClr val="595955"/>
                </a:solidFill>
                <a:latin typeface="Arial"/>
                <a:ea typeface="Arial"/>
                <a:cs typeface="Arial"/>
              </a:rPr>
              <a:t> </a:t>
            </a:r>
            <a:r>
              <a:rPr sz="1125" b="0" dirty="0" err="1">
                <a:solidFill>
                  <a:srgbClr val="595955"/>
                </a:solidFill>
                <a:latin typeface="Arial"/>
                <a:ea typeface="Arial"/>
                <a:cs typeface="Arial"/>
              </a:rPr>
              <a:t>mensuales</a:t>
            </a:r>
            <a:r>
              <a:rPr sz="1125" b="0" dirty="0">
                <a:solidFill>
                  <a:srgbClr val="595955"/>
                </a:solidFill>
                <a:latin typeface="Arial"/>
                <a:ea typeface="Arial"/>
                <a:cs typeface="Arial"/>
              </a:rPr>
              <a:t> </a:t>
            </a:r>
            <a:r>
              <a:rPr sz="1125" b="0" dirty="0" err="1">
                <a:solidFill>
                  <a:srgbClr val="595955"/>
                </a:solidFill>
                <a:latin typeface="Arial"/>
                <a:ea typeface="Arial"/>
                <a:cs typeface="Arial"/>
              </a:rPr>
              <a:t>por</a:t>
            </a:r>
            <a:r>
              <a:rPr sz="1125" b="0" dirty="0">
                <a:solidFill>
                  <a:srgbClr val="595955"/>
                </a:solidFill>
                <a:latin typeface="Arial"/>
                <a:ea typeface="Arial"/>
                <a:cs typeface="Arial"/>
              </a:rPr>
              <a:t> </a:t>
            </a:r>
            <a:r>
              <a:rPr sz="1125" b="0" dirty="0" err="1">
                <a:solidFill>
                  <a:srgbClr val="595955"/>
                </a:solidFill>
                <a:latin typeface="Arial"/>
                <a:ea typeface="Arial"/>
                <a:cs typeface="Arial"/>
              </a:rPr>
              <a:t>empleado</a:t>
            </a:r>
            <a:r>
              <a:rPr sz="1125" b="0" dirty="0">
                <a:solidFill>
                  <a:srgbClr val="595955"/>
                </a:solidFill>
                <a:latin typeface="Arial"/>
                <a:ea typeface="Arial"/>
                <a:cs typeface="Arial"/>
              </a:rPr>
              <a:t>, </a:t>
            </a:r>
            <a:r>
              <a:rPr sz="1125" b="0" dirty="0" err="1">
                <a:solidFill>
                  <a:srgbClr val="595955"/>
                </a:solidFill>
                <a:latin typeface="Arial"/>
                <a:ea typeface="Arial"/>
                <a:cs typeface="Arial"/>
              </a:rPr>
              <a:t>enero</a:t>
            </a:r>
            <a:r>
              <a:rPr sz="1125" b="0" dirty="0">
                <a:solidFill>
                  <a:srgbClr val="595955"/>
                </a:solidFill>
                <a:latin typeface="Arial"/>
                <a:ea typeface="Arial"/>
                <a:cs typeface="Arial"/>
              </a:rPr>
              <a:t> 2024 a mayo 2025.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xmlns="" id="{85E36018-A050-411B-BD1C-F60DC254527F}"/>
              </a:ext>
            </a:extLst>
          </p:cNvPr>
          <p:cNvSpPr>
            <a:spLocks noGrp="1"/>
          </p:cNvSpPr>
          <p:nvPr/>
        </p:nvSpPr>
        <p:spPr>
          <a:xfrm>
            <a:off x="9048750" y="1762125"/>
            <a:ext cx="2381250" cy="1095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6450" b="1">
                <a:solidFill>
                  <a:srgbClr val="82634E"/>
                </a:solidFill>
                <a:latin typeface="Arial"/>
                <a:ea typeface="Arial"/>
                <a:cs typeface="Arial"/>
              </a:defRPr>
            </a:pPr>
            <a:r>
              <a:rPr sz="6450" b="1">
                <a:solidFill>
                  <a:srgbClr val="82634E"/>
                </a:solidFill>
                <a:latin typeface="Arial"/>
                <a:ea typeface="Arial"/>
                <a:cs typeface="Arial"/>
              </a:rPr>
              <a:t>49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xmlns="" id="{558839BF-5450-47E9-B32A-AA6FBF5D9651}"/>
              </a:ext>
            </a:extLst>
          </p:cNvPr>
          <p:cNvSpPr>
            <a:spLocks noGrp="1"/>
          </p:cNvSpPr>
          <p:nvPr/>
        </p:nvSpPr>
        <p:spPr>
          <a:xfrm>
            <a:off x="9048750" y="2952750"/>
            <a:ext cx="2428875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29292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2927"/>
                </a:solidFill>
                <a:latin typeface="Arial"/>
                <a:ea typeface="Arial"/>
                <a:cs typeface="Arial"/>
              </a:rPr>
              <a:t>activos con</a:t>
            </a:r>
          </a:p>
          <a:p>
            <a:pPr>
              <a:defRPr sz="2025" b="0">
                <a:solidFill>
                  <a:srgbClr val="29292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2927"/>
                </a:solidFill>
                <a:latin typeface="Arial"/>
                <a:ea typeface="Arial"/>
                <a:cs typeface="Arial"/>
              </a:rPr>
              <a:t>sobrecarga crónica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091" y="1149550"/>
            <a:ext cx="8651454" cy="4656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7878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xmlns="" id="{DBB918DC-0D61-4E7B-A38C-21765760DF24}"/>
              </a:ext>
            </a:extLst>
          </p:cNvPr>
          <p:cNvSpPr>
            <a:spLocks noGrp="1"/>
          </p:cNvSpPr>
          <p:nvPr/>
        </p:nvSpPr>
        <p:spPr>
          <a:xfrm>
            <a:off x="769257" y="246631"/>
            <a:ext cx="10953750" cy="1104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292927"/>
                </a:solidFill>
                <a:latin typeface="Arial"/>
                <a:ea typeface="Arial"/>
                <a:cs typeface="Arial"/>
              </a:defRPr>
            </a:pPr>
            <a:r>
              <a:rPr sz="3300" b="1" dirty="0">
                <a:solidFill>
                  <a:srgbClr val="292927"/>
                </a:solidFill>
                <a:latin typeface="Arial"/>
                <a:ea typeface="Arial"/>
                <a:cs typeface="Arial"/>
              </a:rPr>
              <a:t>Las horas extra </a:t>
            </a:r>
            <a:r>
              <a:rPr lang="es-ES" sz="3300" b="1" dirty="0" smtClean="0">
                <a:solidFill>
                  <a:srgbClr val="292927"/>
                </a:solidFill>
                <a:latin typeface="Arial"/>
                <a:ea typeface="Arial"/>
                <a:cs typeface="Arial"/>
              </a:rPr>
              <a:t>no suben ni bajan con la producción</a:t>
            </a:r>
            <a:endParaRPr sz="3300" b="1" dirty="0">
              <a:solidFill>
                <a:srgbClr val="2929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xmlns="" id="{B785F274-32E3-45E7-9AB2-24B2883D49F0}"/>
              </a:ext>
            </a:extLst>
          </p:cNvPr>
          <p:cNvSpPr>
            <a:spLocks noGrp="1"/>
          </p:cNvSpPr>
          <p:nvPr/>
        </p:nvSpPr>
        <p:spPr>
          <a:xfrm>
            <a:off x="0" y="6500812"/>
            <a:ext cx="10287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595955"/>
                </a:solidFill>
                <a:latin typeface="Arial"/>
                <a:ea typeface="Arial"/>
                <a:cs typeface="Arial"/>
              </a:defRPr>
            </a:pPr>
            <a:r>
              <a:rPr sz="1125" b="0" dirty="0">
                <a:solidFill>
                  <a:srgbClr val="595955"/>
                </a:solidFill>
                <a:latin typeface="Arial"/>
                <a:ea typeface="Arial"/>
                <a:cs typeface="Arial"/>
              </a:rPr>
              <a:t>02_guion_ejecutivo.md B.3. </a:t>
            </a:r>
            <a:r>
              <a:rPr sz="1125" b="0" dirty="0" err="1">
                <a:solidFill>
                  <a:srgbClr val="595955"/>
                </a:solidFill>
                <a:latin typeface="Arial"/>
                <a:ea typeface="Arial"/>
                <a:cs typeface="Arial"/>
              </a:rPr>
              <a:t>Medianas</a:t>
            </a:r>
            <a:r>
              <a:rPr sz="1125" b="0" dirty="0">
                <a:solidFill>
                  <a:srgbClr val="595955"/>
                </a:solidFill>
                <a:latin typeface="Arial"/>
                <a:ea typeface="Arial"/>
                <a:cs typeface="Arial"/>
              </a:rPr>
              <a:t> </a:t>
            </a:r>
            <a:r>
              <a:rPr sz="1125" b="0" dirty="0" err="1">
                <a:solidFill>
                  <a:srgbClr val="595955"/>
                </a:solidFill>
                <a:latin typeface="Arial"/>
                <a:ea typeface="Arial"/>
                <a:cs typeface="Arial"/>
              </a:rPr>
              <a:t>mensuales</a:t>
            </a:r>
            <a:r>
              <a:rPr sz="1125" b="0" dirty="0">
                <a:solidFill>
                  <a:srgbClr val="595955"/>
                </a:solidFill>
                <a:latin typeface="Arial"/>
                <a:ea typeface="Arial"/>
                <a:cs typeface="Arial"/>
              </a:rPr>
              <a:t> </a:t>
            </a:r>
            <a:r>
              <a:rPr sz="1125" b="0" dirty="0" err="1">
                <a:solidFill>
                  <a:srgbClr val="595955"/>
                </a:solidFill>
                <a:latin typeface="Arial"/>
                <a:ea typeface="Arial"/>
                <a:cs typeface="Arial"/>
              </a:rPr>
              <a:t>por</a:t>
            </a:r>
            <a:r>
              <a:rPr sz="1125" b="0" dirty="0">
                <a:solidFill>
                  <a:srgbClr val="595955"/>
                </a:solidFill>
                <a:latin typeface="Arial"/>
                <a:ea typeface="Arial"/>
                <a:cs typeface="Arial"/>
              </a:rPr>
              <a:t> </a:t>
            </a:r>
            <a:r>
              <a:rPr sz="1125" b="0" dirty="0" err="1">
                <a:solidFill>
                  <a:srgbClr val="595955"/>
                </a:solidFill>
                <a:latin typeface="Arial"/>
                <a:ea typeface="Arial"/>
                <a:cs typeface="Arial"/>
              </a:rPr>
              <a:t>empleado</a:t>
            </a:r>
            <a:r>
              <a:rPr sz="1125" b="0" dirty="0">
                <a:solidFill>
                  <a:srgbClr val="595955"/>
                </a:solidFill>
                <a:latin typeface="Arial"/>
                <a:ea typeface="Arial"/>
                <a:cs typeface="Arial"/>
              </a:rPr>
              <a:t>, </a:t>
            </a:r>
            <a:r>
              <a:rPr sz="1125" b="0" dirty="0" err="1">
                <a:solidFill>
                  <a:srgbClr val="595955"/>
                </a:solidFill>
                <a:latin typeface="Arial"/>
                <a:ea typeface="Arial"/>
                <a:cs typeface="Arial"/>
              </a:rPr>
              <a:t>enero</a:t>
            </a:r>
            <a:r>
              <a:rPr sz="1125" b="0" dirty="0">
                <a:solidFill>
                  <a:srgbClr val="595955"/>
                </a:solidFill>
                <a:latin typeface="Arial"/>
                <a:ea typeface="Arial"/>
                <a:cs typeface="Arial"/>
              </a:rPr>
              <a:t> 2024 a mayo 2025.</a:t>
            </a: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06" y="1030514"/>
            <a:ext cx="11069926" cy="471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7865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xmlns="" id="{DBB918DC-0D61-4E7B-A38C-21765760DF24}"/>
              </a:ext>
            </a:extLst>
          </p:cNvPr>
          <p:cNvSpPr>
            <a:spLocks noGrp="1"/>
          </p:cNvSpPr>
          <p:nvPr/>
        </p:nvSpPr>
        <p:spPr>
          <a:xfrm>
            <a:off x="624114" y="130629"/>
            <a:ext cx="11200493" cy="1104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292927"/>
                </a:solidFill>
                <a:latin typeface="Arial"/>
                <a:ea typeface="Arial"/>
                <a:cs typeface="Arial"/>
              </a:defRPr>
            </a:pPr>
            <a:r>
              <a:rPr lang="es-ES" sz="3300" b="1" dirty="0" smtClean="0">
                <a:solidFill>
                  <a:srgbClr val="292927"/>
                </a:solidFill>
                <a:latin typeface="Arial"/>
                <a:ea typeface="Arial"/>
                <a:cs typeface="Arial"/>
              </a:rPr>
              <a:t>Faltan entre 24 y 34 operarios en Estampado, Ensamble y Pintura</a:t>
            </a:r>
            <a:endParaRPr sz="3300" b="1" dirty="0">
              <a:solidFill>
                <a:srgbClr val="292927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051" y="1384527"/>
            <a:ext cx="10810174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1400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166" y="870857"/>
            <a:ext cx="11829919" cy="5370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656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xmlns="" id="{1F84398A-5F81-4A9A-9220-250508389885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53750" cy="1104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292927"/>
                </a:solidFill>
                <a:latin typeface="Arial"/>
                <a:ea typeface="Arial"/>
                <a:cs typeface="Arial"/>
              </a:defRPr>
            </a:pPr>
            <a:r>
              <a:rPr lang="es-ES" sz="3300" b="1" dirty="0" smtClean="0">
                <a:solidFill>
                  <a:srgbClr val="292927"/>
                </a:solidFill>
                <a:latin typeface="Arial"/>
                <a:ea typeface="Arial"/>
                <a:cs typeface="Arial"/>
              </a:rPr>
              <a:t>Puestos con riesgo de sucesión</a:t>
            </a:r>
            <a:endParaRPr sz="3300" b="1" dirty="0">
              <a:solidFill>
                <a:srgbClr val="2929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xmlns="" id="{FDD6045B-F85E-4E27-9B30-4495F425F950}"/>
              </a:ext>
            </a:extLst>
          </p:cNvPr>
          <p:cNvSpPr>
            <a:spLocks noGrp="1"/>
          </p:cNvSpPr>
          <p:nvPr/>
        </p:nvSpPr>
        <p:spPr>
          <a:xfrm>
            <a:off x="0" y="6562725"/>
            <a:ext cx="10287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595955"/>
                </a:solidFill>
                <a:latin typeface="Arial"/>
                <a:ea typeface="Arial"/>
                <a:cs typeface="Arial"/>
              </a:defRPr>
            </a:pPr>
            <a:r>
              <a:rPr sz="1125" b="0" dirty="0">
                <a:solidFill>
                  <a:srgbClr val="595955"/>
                </a:solidFill>
                <a:latin typeface="Arial"/>
                <a:ea typeface="Arial"/>
                <a:cs typeface="Arial"/>
              </a:rPr>
              <a:t>DEC-025. </a:t>
            </a:r>
            <a:r>
              <a:rPr sz="1125" b="0" dirty="0" err="1">
                <a:solidFill>
                  <a:srgbClr val="595955"/>
                </a:solidFill>
                <a:latin typeface="Arial"/>
                <a:ea typeface="Arial"/>
                <a:cs typeface="Arial"/>
              </a:rPr>
              <a:t>Proyección</a:t>
            </a:r>
            <a:r>
              <a:rPr sz="1125" b="0" dirty="0">
                <a:solidFill>
                  <a:srgbClr val="595955"/>
                </a:solidFill>
                <a:latin typeface="Arial"/>
                <a:ea typeface="Arial"/>
                <a:cs typeface="Arial"/>
              </a:rPr>
              <a:t> a 12 </a:t>
            </a:r>
            <a:r>
              <a:rPr sz="1125" b="0" dirty="0" err="1">
                <a:solidFill>
                  <a:srgbClr val="595955"/>
                </a:solidFill>
                <a:latin typeface="Arial"/>
                <a:ea typeface="Arial"/>
                <a:cs typeface="Arial"/>
              </a:rPr>
              <a:t>meses</a:t>
            </a:r>
            <a:r>
              <a:rPr sz="1125" b="0" dirty="0">
                <a:solidFill>
                  <a:srgbClr val="595955"/>
                </a:solidFill>
                <a:latin typeface="Arial"/>
                <a:ea typeface="Arial"/>
                <a:cs typeface="Arial"/>
              </a:rPr>
              <a:t> </a:t>
            </a:r>
            <a:r>
              <a:rPr sz="1125" b="0" dirty="0" err="1">
                <a:solidFill>
                  <a:srgbClr val="595955"/>
                </a:solidFill>
                <a:latin typeface="Arial"/>
                <a:ea typeface="Arial"/>
                <a:cs typeface="Arial"/>
              </a:rPr>
              <a:t>desde</a:t>
            </a:r>
            <a:r>
              <a:rPr sz="1125" b="0" dirty="0">
                <a:solidFill>
                  <a:srgbClr val="595955"/>
                </a:solidFill>
                <a:latin typeface="Arial"/>
                <a:ea typeface="Arial"/>
                <a:cs typeface="Arial"/>
              </a:rPr>
              <a:t> mayo de 2025. </a:t>
            </a:r>
            <a:r>
              <a:rPr sz="1125" b="0" dirty="0" err="1">
                <a:solidFill>
                  <a:srgbClr val="595955"/>
                </a:solidFill>
                <a:latin typeface="Arial"/>
                <a:ea typeface="Arial"/>
                <a:cs typeface="Arial"/>
              </a:rPr>
              <a:t>Requiere</a:t>
            </a:r>
            <a:r>
              <a:rPr sz="1125" b="0" dirty="0">
                <a:solidFill>
                  <a:srgbClr val="595955"/>
                </a:solidFill>
                <a:latin typeface="Arial"/>
                <a:ea typeface="Arial"/>
                <a:cs typeface="Arial"/>
              </a:rPr>
              <a:t> </a:t>
            </a:r>
            <a:r>
              <a:rPr sz="1125" b="0" dirty="0" err="1">
                <a:solidFill>
                  <a:srgbClr val="595955"/>
                </a:solidFill>
                <a:latin typeface="Arial"/>
                <a:ea typeface="Arial"/>
                <a:cs typeface="Arial"/>
              </a:rPr>
              <a:t>actualización</a:t>
            </a:r>
            <a:r>
              <a:rPr sz="1125" b="0" dirty="0">
                <a:solidFill>
                  <a:srgbClr val="595955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graphicFrame>
        <p:nvGraphicFramePr>
          <p:cNvPr id="10" name="Tabla 9"/>
          <p:cNvGraphicFramePr/>
          <p:nvPr>
            <p:extLst>
              <p:ext uri="{D42A27DB-BD31-4B8C-83A1-F6EECF244321}">
                <p14:modId xmlns:p14="http://schemas.microsoft.com/office/powerpoint/2010/main" val="3829631507"/>
              </p:ext>
            </p:extLst>
          </p:nvPr>
        </p:nvGraphicFramePr>
        <p:xfrm>
          <a:off x="326571" y="1306284"/>
          <a:ext cx="11236779" cy="3176791"/>
        </p:xfrm>
        <a:graphic>
          <a:graphicData uri="http://schemas.openxmlformats.org/drawingml/2006/table">
            <a:tbl>
              <a:tblPr firstRow="1"/>
              <a:tblGrid>
                <a:gridCol w="1025839"/>
                <a:gridCol w="2513304"/>
                <a:gridCol w="820671"/>
                <a:gridCol w="1384882"/>
                <a:gridCol w="2000385"/>
                <a:gridCol w="2410721"/>
                <a:gridCol w="1080977"/>
              </a:tblGrid>
              <a:tr h="1043471">
                <a:tc>
                  <a:txBody>
                    <a:bodyPr/>
                    <a:lstStyle/>
                    <a:p>
                      <a:r>
                        <a:rPr lang="es-AR" sz="11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Persona</a:t>
                      </a:r>
                    </a:p>
                  </a:txBody>
                  <a:tcPr marL="45720" marR="45720" marT="27432" marB="27432" anchor="ctr">
                    <a:solidFill>
                      <a:srgbClr val="2929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AR" sz="11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Puesto</a:t>
                      </a:r>
                    </a:p>
                  </a:txBody>
                  <a:tcPr marL="45720" marR="45720" marT="27432" marB="27432" anchor="ctr">
                    <a:solidFill>
                      <a:srgbClr val="2929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AR" sz="11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Edad</a:t>
                      </a:r>
                    </a:p>
                  </a:txBody>
                  <a:tcPr marL="45720" marR="45720" marT="27432" marB="27432" anchor="ctr">
                    <a:solidFill>
                      <a:srgbClr val="2929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AR" sz="11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Jubila en</a:t>
                      </a:r>
                    </a:p>
                  </a:txBody>
                  <a:tcPr marL="45720" marR="45720" marT="27432" marB="27432" anchor="ctr">
                    <a:solidFill>
                      <a:srgbClr val="2929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AR" sz="11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Performance sostenida</a:t>
                      </a:r>
                    </a:p>
                  </a:txBody>
                  <a:tcPr marL="45720" marR="45720" marT="27432" marB="27432" anchor="ctr">
                    <a:solidFill>
                      <a:srgbClr val="2929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AR" sz="11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Sucesores con performance </a:t>
                      </a:r>
                      <a:r>
                        <a:rPr lang="es-AR" sz="1100" b="1" dirty="0" smtClean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suficiente (</a:t>
                      </a:r>
                      <a:r>
                        <a:rPr lang="es-AR" sz="1100" b="1" dirty="0" err="1" smtClean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perf_prom</a:t>
                      </a:r>
                      <a:r>
                        <a:rPr lang="es-AR" sz="1100" b="1" dirty="0" smtClean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 ≥ 4)</a:t>
                      </a:r>
                      <a:endParaRPr lang="es-AR" sz="1100" b="1" dirty="0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45720" marR="45720" marT="27432" marB="27432" anchor="ctr">
                    <a:solidFill>
                      <a:srgbClr val="2929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AR" sz="11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Riesgo</a:t>
                      </a:r>
                    </a:p>
                  </a:txBody>
                  <a:tcPr marL="45720" marR="45720" marT="27432" marB="27432" anchor="ctr">
                    <a:solidFill>
                      <a:srgbClr val="292927"/>
                    </a:solidFill>
                  </a:tcPr>
                </a:tc>
              </a:tr>
              <a:tr h="533330">
                <a:tc>
                  <a:txBody>
                    <a:bodyPr/>
                    <a:lstStyle/>
                    <a:p>
                      <a:r>
                        <a:rPr lang="es-AR" sz="1150" b="0" dirty="0">
                          <a:solidFill>
                            <a:srgbClr val="292927"/>
                          </a:solidFill>
                          <a:latin typeface="Arial"/>
                          <a:ea typeface="Arial"/>
                          <a:cs typeface="Arial"/>
                        </a:rPr>
                        <a:t>1547</a:t>
                      </a:r>
                    </a:p>
                  </a:txBody>
                  <a:tcPr marL="45720" marR="45720" marT="27432" marB="27432" anchor="ctr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AR" sz="1150" b="0" dirty="0">
                          <a:solidFill>
                            <a:srgbClr val="292927"/>
                          </a:solidFill>
                          <a:latin typeface="Arial"/>
                          <a:ea typeface="Arial"/>
                          <a:cs typeface="Arial"/>
                        </a:rPr>
                        <a:t>Supervisora de Logística</a:t>
                      </a:r>
                    </a:p>
                  </a:txBody>
                  <a:tcPr marL="45720" marR="45720" marT="27432" marB="27432" anchor="ctr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AR" sz="1150" b="0" dirty="0">
                          <a:solidFill>
                            <a:srgbClr val="292927"/>
                          </a:solidFill>
                          <a:latin typeface="Arial"/>
                          <a:ea typeface="Arial"/>
                          <a:cs typeface="Arial"/>
                        </a:rPr>
                        <a:t>64</a:t>
                      </a:r>
                    </a:p>
                  </a:txBody>
                  <a:tcPr marL="45720" marR="45720" marT="27432" marB="27432" anchor="ctr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AR" sz="1150" b="0" dirty="0">
                          <a:solidFill>
                            <a:srgbClr val="292927"/>
                          </a:solidFill>
                          <a:latin typeface="Arial"/>
                          <a:ea typeface="Arial"/>
                          <a:cs typeface="Arial"/>
                        </a:rPr>
                        <a:t>6 meses</a:t>
                      </a:r>
                    </a:p>
                  </a:txBody>
                  <a:tcPr marL="45720" marR="45720" marT="27432" marB="27432" anchor="ctr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AR" sz="1150" b="0" dirty="0">
                          <a:solidFill>
                            <a:srgbClr val="292927"/>
                          </a:solidFill>
                          <a:latin typeface="Arial"/>
                          <a:ea typeface="Arial"/>
                          <a:cs typeface="Arial"/>
                        </a:rPr>
                        <a:t>5,0 (17/17 meses)</a:t>
                      </a:r>
                    </a:p>
                  </a:txBody>
                  <a:tcPr marL="45720" marR="45720" marT="27432" marB="27432" anchor="ctr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AR" sz="1150" b="0" dirty="0">
                          <a:solidFill>
                            <a:srgbClr val="292927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45720" marR="45720" marT="27432" marB="27432" anchor="ctr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AR" sz="1150" b="1" dirty="0">
                          <a:solidFill>
                            <a:srgbClr val="9E2B25"/>
                          </a:solidFill>
                          <a:latin typeface="Arial"/>
                          <a:ea typeface="Arial"/>
                          <a:cs typeface="Arial"/>
                        </a:rPr>
                        <a:t>Alto</a:t>
                      </a:r>
                    </a:p>
                  </a:txBody>
                  <a:tcPr marL="45720" marR="45720" marT="27432" marB="27432" anchor="ctr">
                    <a:solidFill>
                      <a:srgbClr val="F5F1E8"/>
                    </a:solidFill>
                  </a:tcPr>
                </a:tc>
              </a:tr>
              <a:tr h="533330">
                <a:tc>
                  <a:txBody>
                    <a:bodyPr/>
                    <a:lstStyle/>
                    <a:p>
                      <a:r>
                        <a:rPr lang="es-AR" sz="1150" b="0" dirty="0">
                          <a:solidFill>
                            <a:srgbClr val="292927"/>
                          </a:solidFill>
                          <a:latin typeface="Arial"/>
                          <a:ea typeface="Arial"/>
                          <a:cs typeface="Arial"/>
                        </a:rPr>
                        <a:t>1544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AR" sz="1150" b="0" dirty="0">
                          <a:solidFill>
                            <a:srgbClr val="292927"/>
                          </a:solidFill>
                          <a:latin typeface="Arial"/>
                          <a:ea typeface="Arial"/>
                          <a:cs typeface="Arial"/>
                        </a:rPr>
                        <a:t>Team Leader Logística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AR" sz="1150" b="0" dirty="0">
                          <a:solidFill>
                            <a:srgbClr val="292927"/>
                          </a:solidFill>
                          <a:latin typeface="Arial"/>
                          <a:ea typeface="Arial"/>
                          <a:cs typeface="Arial"/>
                        </a:rPr>
                        <a:t>63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AR" sz="1150" b="0" dirty="0">
                          <a:solidFill>
                            <a:srgbClr val="292927"/>
                          </a:solidFill>
                          <a:latin typeface="Arial"/>
                          <a:ea typeface="Arial"/>
                          <a:cs typeface="Arial"/>
                        </a:rPr>
                        <a:t>9 meses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AR" sz="1150" b="0" dirty="0">
                          <a:solidFill>
                            <a:srgbClr val="292927"/>
                          </a:solidFill>
                          <a:latin typeface="Arial"/>
                          <a:ea typeface="Arial"/>
                          <a:cs typeface="Arial"/>
                        </a:rPr>
                        <a:t>5,0 (17/17 meses)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AR" sz="1150" b="0" dirty="0">
                          <a:solidFill>
                            <a:srgbClr val="292927"/>
                          </a:solidFill>
                          <a:latin typeface="Arial"/>
                          <a:ea typeface="Arial"/>
                          <a:cs typeface="Arial"/>
                        </a:rPr>
                        <a:t>0 de 3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AR" sz="1150" b="1" dirty="0">
                          <a:solidFill>
                            <a:srgbClr val="9E2B25"/>
                          </a:solidFill>
                          <a:latin typeface="Arial"/>
                          <a:ea typeface="Arial"/>
                          <a:cs typeface="Arial"/>
                        </a:rPr>
                        <a:t>Alto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  <a:tr h="533330">
                <a:tc>
                  <a:txBody>
                    <a:bodyPr/>
                    <a:lstStyle/>
                    <a:p>
                      <a:r>
                        <a:rPr lang="es-AR" sz="1150" b="0" dirty="0">
                          <a:solidFill>
                            <a:srgbClr val="292927"/>
                          </a:solidFill>
                          <a:latin typeface="Arial"/>
                          <a:ea typeface="Arial"/>
                          <a:cs typeface="Arial"/>
                        </a:rPr>
                        <a:t>1542</a:t>
                      </a:r>
                    </a:p>
                  </a:txBody>
                  <a:tcPr marL="45720" marR="45720" marT="27432" marB="27432" anchor="ctr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AR" sz="1150" b="0" dirty="0">
                          <a:solidFill>
                            <a:srgbClr val="292927"/>
                          </a:solidFill>
                          <a:latin typeface="Arial"/>
                          <a:ea typeface="Arial"/>
                          <a:cs typeface="Arial"/>
                        </a:rPr>
                        <a:t>Team Leader Logística</a:t>
                      </a:r>
                    </a:p>
                  </a:txBody>
                  <a:tcPr marL="45720" marR="45720" marT="27432" marB="27432" anchor="ctr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AR" sz="1150" b="0" dirty="0">
                          <a:solidFill>
                            <a:srgbClr val="292927"/>
                          </a:solidFill>
                          <a:latin typeface="Arial"/>
                          <a:ea typeface="Arial"/>
                          <a:cs typeface="Arial"/>
                        </a:rPr>
                        <a:t>62</a:t>
                      </a:r>
                    </a:p>
                  </a:txBody>
                  <a:tcPr marL="45720" marR="45720" marT="27432" marB="27432" anchor="ctr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AR" sz="1150" b="0" dirty="0">
                          <a:solidFill>
                            <a:srgbClr val="292927"/>
                          </a:solidFill>
                          <a:latin typeface="Arial"/>
                          <a:ea typeface="Arial"/>
                          <a:cs typeface="Arial"/>
                        </a:rPr>
                        <a:t>12 meses</a:t>
                      </a:r>
                    </a:p>
                  </a:txBody>
                  <a:tcPr marL="45720" marR="45720" marT="27432" marB="27432" anchor="ctr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AR" sz="1150" b="0" dirty="0">
                          <a:solidFill>
                            <a:srgbClr val="292927"/>
                          </a:solidFill>
                          <a:latin typeface="Arial"/>
                          <a:ea typeface="Arial"/>
                          <a:cs typeface="Arial"/>
                        </a:rPr>
                        <a:t>5,0 (17/17 meses)</a:t>
                      </a:r>
                    </a:p>
                  </a:txBody>
                  <a:tcPr marL="45720" marR="45720" marT="27432" marB="27432" anchor="ctr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AR" sz="1150" b="0" dirty="0">
                          <a:solidFill>
                            <a:srgbClr val="292927"/>
                          </a:solidFill>
                          <a:latin typeface="Arial"/>
                          <a:ea typeface="Arial"/>
                          <a:cs typeface="Arial"/>
                        </a:rPr>
                        <a:t>0 de 3</a:t>
                      </a:r>
                    </a:p>
                  </a:txBody>
                  <a:tcPr marL="45720" marR="45720" marT="27432" marB="27432" anchor="ctr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AR" sz="1150" b="1" dirty="0">
                          <a:solidFill>
                            <a:srgbClr val="9E2B25"/>
                          </a:solidFill>
                          <a:latin typeface="Arial"/>
                          <a:ea typeface="Arial"/>
                          <a:cs typeface="Arial"/>
                        </a:rPr>
                        <a:t>Alto</a:t>
                      </a:r>
                    </a:p>
                  </a:txBody>
                  <a:tcPr marL="45720" marR="45720" marT="27432" marB="27432" anchor="ctr">
                    <a:solidFill>
                      <a:srgbClr val="F5F1E8"/>
                    </a:solidFill>
                  </a:tcPr>
                </a:tc>
              </a:tr>
              <a:tr h="533330">
                <a:tc>
                  <a:txBody>
                    <a:bodyPr/>
                    <a:lstStyle/>
                    <a:p>
                      <a:r>
                        <a:rPr lang="es-AR" sz="1150" b="0" dirty="0">
                          <a:solidFill>
                            <a:srgbClr val="292927"/>
                          </a:solidFill>
                          <a:latin typeface="Arial"/>
                          <a:ea typeface="Arial"/>
                          <a:cs typeface="Arial"/>
                        </a:rPr>
                        <a:t>1098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AR" sz="1150" b="0" dirty="0">
                          <a:solidFill>
                            <a:srgbClr val="292927"/>
                          </a:solidFill>
                          <a:latin typeface="Arial"/>
                          <a:ea typeface="Arial"/>
                          <a:cs typeface="Arial"/>
                        </a:rPr>
                        <a:t>Técnico Setup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AR" sz="1150" b="0" dirty="0">
                          <a:solidFill>
                            <a:srgbClr val="292927"/>
                          </a:solidFill>
                          <a:latin typeface="Arial"/>
                          <a:ea typeface="Arial"/>
                          <a:cs typeface="Arial"/>
                        </a:rPr>
                        <a:t>64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AR" sz="1150" b="0" dirty="0">
                          <a:solidFill>
                            <a:srgbClr val="292927"/>
                          </a:solidFill>
                          <a:latin typeface="Arial"/>
                          <a:ea typeface="Arial"/>
                          <a:cs typeface="Arial"/>
                        </a:rPr>
                        <a:t>6 meses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AR" sz="1150" b="0" dirty="0">
                          <a:solidFill>
                            <a:srgbClr val="292927"/>
                          </a:solidFill>
                          <a:latin typeface="Arial"/>
                          <a:ea typeface="Arial"/>
                          <a:cs typeface="Arial"/>
                        </a:rPr>
                        <a:t>2,7 (0 meses en 5)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AR" sz="1150" b="0" dirty="0">
                          <a:solidFill>
                            <a:srgbClr val="292927"/>
                          </a:solidFill>
                          <a:latin typeface="Arial"/>
                          <a:ea typeface="Arial"/>
                          <a:cs typeface="Arial"/>
                        </a:rPr>
                        <a:t>1 de 24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AR" sz="1150" b="1" dirty="0">
                          <a:solidFill>
                            <a:srgbClr val="3F6B3A"/>
                          </a:solidFill>
                          <a:latin typeface="Arial"/>
                          <a:ea typeface="Arial"/>
                          <a:cs typeface="Arial"/>
                        </a:rPr>
                        <a:t>Bajo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ulo 4"/>
          <p:cNvSpPr>
            <a:spLocks noGrp="1"/>
          </p:cNvSpPr>
          <p:nvPr/>
        </p:nvSpPr>
        <p:spPr>
          <a:xfrm>
            <a:off x="609600" y="4620000"/>
            <a:ext cx="10953750" cy="460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00" b="1">
                <a:solidFill>
                  <a:srgbClr val="292927"/>
                </a:solidFill>
                <a:latin typeface="Arial"/>
                <a:ea typeface="Arial"/>
                <a:cs typeface="Arial"/>
              </a:defRPr>
            </a:pPr>
            <a:r>
              <a:rPr lang="es-AR" sz="1600" b="1" dirty="0">
                <a:solidFill>
                  <a:srgbClr val="292927"/>
                </a:solidFill>
                <a:latin typeface="Arial"/>
                <a:ea typeface="Arial"/>
                <a:cs typeface="Arial"/>
              </a:rPr>
              <a:t>En Logística se jubilan los tres únicos con desempeño 5 sostenido del área. No hay reemplazo probado.</a:t>
            </a:r>
          </a:p>
        </p:txBody>
      </p:sp>
      <p:sp>
        <p:nvSpPr>
          <p:cNvPr id="6" name="Rectangulo 5"/>
          <p:cNvSpPr>
            <a:spLocks noGrp="1"/>
          </p:cNvSpPr>
          <p:nvPr/>
        </p:nvSpPr>
        <p:spPr>
          <a:xfrm>
            <a:off x="326571" y="5216925"/>
            <a:ext cx="11589658" cy="1345799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00" b="0">
                <a:solidFill>
                  <a:srgbClr val="292927"/>
                </a:solidFill>
                <a:latin typeface="Arial"/>
                <a:ea typeface="Arial"/>
                <a:cs typeface="Arial"/>
              </a:defRPr>
            </a:pPr>
            <a:r>
              <a:rPr lang="es-AR" sz="2000" b="0" dirty="0">
                <a:solidFill>
                  <a:srgbClr val="292927"/>
                </a:solidFill>
                <a:latin typeface="Arial"/>
                <a:ea typeface="Arial"/>
                <a:cs typeface="Arial"/>
              </a:rPr>
              <a:t>Acción inmediata: redirigir parte del presupuesto de capacitación de Logística, el mayor por empleado de la planta, a un plan formal de reemplazo para la Supervisora, siguiendo el orden de jubilación (6, 9 y 12 meses).</a:t>
            </a:r>
          </a:p>
        </p:txBody>
      </p:sp>
    </p:spTree>
    <p:extLst>
      <p:ext uri="{BB962C8B-B14F-4D97-AF65-F5344CB8AC3E}">
        <p14:creationId xmlns:p14="http://schemas.microsoft.com/office/powerpoint/2010/main" val="13908539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xmlns="" id="{CB79422E-EDF4-4FAB-8527-166A39963BB5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53750" cy="1104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spcAft>
                <a:spcPts val="0"/>
              </a:spcAft>
              <a:defRPr sz="3300" b="1">
                <a:solidFill>
                  <a:srgbClr val="292927"/>
                </a:solidFill>
                <a:latin typeface="Arial"/>
                <a:ea typeface="Arial"/>
                <a:cs typeface="Arial"/>
              </a:defRPr>
            </a:pPr>
            <a:r>
              <a:rPr lang="es-AR" sz="3300" b="1" dirty="0">
                <a:solidFill>
                  <a:srgbClr val="292927"/>
                </a:solidFill>
                <a:latin typeface="Arial"/>
                <a:ea typeface="Arial"/>
                <a:cs typeface="Arial"/>
              </a:rPr>
              <a:t>3 datos necesarios para destrabar decisiones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xmlns="" id="{103E3E17-2012-40D7-B2EF-0A7C654010A3}"/>
              </a:ext>
            </a:extLst>
          </p:cNvPr>
          <p:cNvSpPr>
            <a:spLocks noGrp="1"/>
          </p:cNvSpPr>
          <p:nvPr/>
        </p:nvSpPr>
        <p:spPr>
          <a:xfrm>
            <a:off x="116115" y="6524625"/>
            <a:ext cx="10287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595955"/>
                </a:solidFill>
                <a:latin typeface="Arial"/>
                <a:ea typeface="Arial"/>
                <a:cs typeface="Arial"/>
              </a:defRPr>
            </a:pPr>
            <a:r>
              <a:rPr sz="1125" b="0" dirty="0" err="1">
                <a:solidFill>
                  <a:srgbClr val="595955"/>
                </a:solidFill>
                <a:latin typeface="Arial"/>
                <a:ea typeface="Arial"/>
                <a:cs typeface="Arial"/>
              </a:rPr>
              <a:t>Síntesis</a:t>
            </a:r>
            <a:r>
              <a:rPr sz="1125" b="0" dirty="0">
                <a:solidFill>
                  <a:srgbClr val="595955"/>
                </a:solidFill>
                <a:latin typeface="Arial"/>
                <a:ea typeface="Arial"/>
                <a:cs typeface="Arial"/>
              </a:rPr>
              <a:t> del Discovery. </a:t>
            </a:r>
            <a:r>
              <a:rPr sz="1125" b="0" dirty="0" err="1">
                <a:solidFill>
                  <a:srgbClr val="595955"/>
                </a:solidFill>
                <a:latin typeface="Arial"/>
                <a:ea typeface="Arial"/>
                <a:cs typeface="Arial"/>
              </a:rPr>
              <a:t>Acciones</a:t>
            </a:r>
            <a:r>
              <a:rPr sz="1125" b="0" dirty="0">
                <a:solidFill>
                  <a:srgbClr val="595955"/>
                </a:solidFill>
                <a:latin typeface="Arial"/>
                <a:ea typeface="Arial"/>
                <a:cs typeface="Arial"/>
              </a:rPr>
              <a:t> </a:t>
            </a:r>
            <a:r>
              <a:rPr sz="1125" b="0" dirty="0" err="1">
                <a:solidFill>
                  <a:srgbClr val="595955"/>
                </a:solidFill>
                <a:latin typeface="Arial"/>
                <a:ea typeface="Arial"/>
                <a:cs typeface="Arial"/>
              </a:rPr>
              <a:t>propuestas</a:t>
            </a:r>
            <a:r>
              <a:rPr sz="1125" b="0" dirty="0">
                <a:solidFill>
                  <a:srgbClr val="595955"/>
                </a:solidFill>
                <a:latin typeface="Arial"/>
                <a:ea typeface="Arial"/>
                <a:cs typeface="Arial"/>
              </a:rPr>
              <a:t>, sin </a:t>
            </a:r>
            <a:r>
              <a:rPr sz="1125" b="0" dirty="0" err="1">
                <a:solidFill>
                  <a:srgbClr val="595955"/>
                </a:solidFill>
                <a:latin typeface="Arial"/>
                <a:ea typeface="Arial"/>
                <a:cs typeface="Arial"/>
              </a:rPr>
              <a:t>resultados</a:t>
            </a:r>
            <a:r>
              <a:rPr sz="1125" b="0" dirty="0">
                <a:solidFill>
                  <a:srgbClr val="595955"/>
                </a:solidFill>
                <a:latin typeface="Arial"/>
                <a:ea typeface="Arial"/>
                <a:cs typeface="Arial"/>
              </a:rPr>
              <a:t> </a:t>
            </a:r>
            <a:r>
              <a:rPr sz="1125" b="0" dirty="0" err="1">
                <a:solidFill>
                  <a:srgbClr val="595955"/>
                </a:solidFill>
                <a:latin typeface="Arial"/>
                <a:ea typeface="Arial"/>
                <a:cs typeface="Arial"/>
              </a:rPr>
              <a:t>garantizados</a:t>
            </a:r>
            <a:r>
              <a:rPr sz="1125" b="0" dirty="0">
                <a:solidFill>
                  <a:srgbClr val="595955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graphicFrame>
        <p:nvGraphicFramePr>
          <p:cNvPr id="8" name="Tabla puente"/>
          <p:cNvGraphicFramePr/>
          <p:nvPr>
            <p:extLst>
              <p:ext uri="{D42A27DB-BD31-4B8C-83A1-F6EECF244321}">
                <p14:modId xmlns:p14="http://schemas.microsoft.com/office/powerpoint/2010/main" val="3668694162"/>
              </p:ext>
            </p:extLst>
          </p:nvPr>
        </p:nvGraphicFramePr>
        <p:xfrm>
          <a:off x="384617" y="1118020"/>
          <a:ext cx="11178733" cy="3711980"/>
        </p:xfrm>
        <a:graphic>
          <a:graphicData uri="http://schemas.openxmlformats.org/drawingml/2006/table">
            <a:tbl>
              <a:tblPr firstRow="1"/>
              <a:tblGrid>
                <a:gridCol w="3294373"/>
                <a:gridCol w="4169440"/>
                <a:gridCol w="3714920"/>
              </a:tblGrid>
              <a:tr h="549923">
                <a:tc>
                  <a:txBody>
                    <a:bodyPr/>
                    <a:lstStyle/>
                    <a:p>
                      <a:r>
                        <a:rPr lang="es-AR" sz="14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Dato que falta</a:t>
                      </a:r>
                    </a:p>
                  </a:txBody>
                  <a:tcPr marL="63500" marR="63500" anchor="ctr">
                    <a:solidFill>
                      <a:srgbClr val="2929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AR" sz="14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Decisión que destraba ahora</a:t>
                      </a:r>
                    </a:p>
                  </a:txBody>
                  <a:tcPr marL="63500" marR="63500" anchor="ctr">
                    <a:solidFill>
                      <a:srgbClr val="2929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AR" sz="14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Qué habilita más adelante</a:t>
                      </a:r>
                    </a:p>
                  </a:txBody>
                  <a:tcPr marL="63500" marR="63500" anchor="ctr">
                    <a:solidFill>
                      <a:srgbClr val="292927"/>
                    </a:solidFill>
                  </a:tcPr>
                </a:tc>
              </a:tr>
              <a:tr h="1054019">
                <a:tc>
                  <a:txBody>
                    <a:bodyPr/>
                    <a:lstStyle/>
                    <a:p>
                      <a:r>
                        <a:rPr lang="es-AR" sz="1600" b="1" dirty="0">
                          <a:solidFill>
                            <a:srgbClr val="292927"/>
                          </a:solidFill>
                          <a:latin typeface="Arial"/>
                          <a:ea typeface="Arial"/>
                          <a:cs typeface="Arial"/>
                        </a:rPr>
                        <a:t>Entrevista de salida con motivo estructurado (N3)</a:t>
                      </a:r>
                    </a:p>
                  </a:txBody>
                  <a:tcPr marL="63500" marR="63500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AR" sz="1800" b="0" dirty="0">
                          <a:solidFill>
                            <a:srgbClr val="292927"/>
                          </a:solidFill>
                          <a:latin typeface="Arial"/>
                          <a:ea typeface="Arial"/>
                          <a:cs typeface="Arial"/>
                        </a:rPr>
                        <a:t>Dónde y cuánto invertir en retención, por área y por trimestre. Hoy se decide una vez al año, a ojo.</a:t>
                      </a:r>
                    </a:p>
                  </a:txBody>
                  <a:tcPr marL="63500" marR="63500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AR" sz="1600" b="0" dirty="0" smtClean="0">
                          <a:solidFill>
                            <a:srgbClr val="292927"/>
                          </a:solidFill>
                          <a:latin typeface="Arial"/>
                          <a:ea typeface="Arial"/>
                          <a:cs typeface="Arial"/>
                        </a:rPr>
                        <a:t>Modelo de </a:t>
                      </a:r>
                      <a:r>
                        <a:rPr lang="es-AR" sz="1600" b="0" dirty="0" err="1" smtClean="0">
                          <a:solidFill>
                            <a:srgbClr val="292927"/>
                          </a:solidFill>
                          <a:latin typeface="Arial"/>
                          <a:ea typeface="Arial"/>
                          <a:cs typeface="Arial"/>
                        </a:rPr>
                        <a:t>churn</a:t>
                      </a:r>
                      <a:r>
                        <a:rPr lang="es-AR" sz="1600" b="0" dirty="0" smtClean="0">
                          <a:solidFill>
                            <a:srgbClr val="292927"/>
                          </a:solidFill>
                          <a:latin typeface="Arial"/>
                          <a:ea typeface="Arial"/>
                          <a:cs typeface="Arial"/>
                        </a:rPr>
                        <a:t> por </a:t>
                      </a:r>
                      <a:r>
                        <a:rPr lang="es-AR" sz="1600" b="0" dirty="0">
                          <a:solidFill>
                            <a:srgbClr val="292927"/>
                          </a:solidFill>
                          <a:latin typeface="Arial"/>
                          <a:ea typeface="Arial"/>
                          <a:cs typeface="Arial"/>
                        </a:rPr>
                        <a:t>segmento, con 2+ años de registros.</a:t>
                      </a:r>
                    </a:p>
                  </a:txBody>
                  <a:tcPr marL="63500" marR="63500">
                    <a:solidFill>
                      <a:srgbClr val="F5F1E8"/>
                    </a:solidFill>
                  </a:tcPr>
                </a:tc>
              </a:tr>
              <a:tr h="1054019">
                <a:tc>
                  <a:txBody>
                    <a:bodyPr/>
                    <a:lstStyle/>
                    <a:p>
                      <a:r>
                        <a:rPr lang="es-AR" sz="1600" b="1" dirty="0">
                          <a:solidFill>
                            <a:srgbClr val="292927"/>
                          </a:solidFill>
                          <a:latin typeface="Arial"/>
                          <a:ea typeface="Arial"/>
                          <a:cs typeface="Arial"/>
                        </a:rPr>
                        <a:t>Ficha de incidente con causa raíz y hora real del hecho (N5)</a:t>
                      </a:r>
                    </a:p>
                  </a:txBody>
                  <a:tcPr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AR" sz="1800" b="0" dirty="0">
                          <a:solidFill>
                            <a:srgbClr val="292927"/>
                          </a:solidFill>
                          <a:latin typeface="Arial"/>
                          <a:ea typeface="Arial"/>
                          <a:cs typeface="Arial"/>
                        </a:rPr>
                        <a:t>Qué turno, línea y tarea auditar primero. Destraba la auditoría nocturna de 90 días.</a:t>
                      </a:r>
                    </a:p>
                  </a:txBody>
                  <a:tcPr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AR" sz="1600" b="0" dirty="0">
                          <a:solidFill>
                            <a:srgbClr val="292927"/>
                          </a:solidFill>
                          <a:latin typeface="Arial"/>
                          <a:ea typeface="Arial"/>
                          <a:cs typeface="Arial"/>
                        </a:rPr>
                        <a:t>Modelo de severidad por configuración, con 2+ años de fichas.</a:t>
                      </a:r>
                    </a:p>
                  </a:txBody>
                  <a:tcPr marL="63500" marR="63500">
                    <a:solidFill>
                      <a:srgbClr val="FFFFFF"/>
                    </a:solidFill>
                  </a:tcPr>
                </a:tc>
              </a:tr>
              <a:tr h="1054019">
                <a:tc>
                  <a:txBody>
                    <a:bodyPr/>
                    <a:lstStyle/>
                    <a:p>
                      <a:r>
                        <a:rPr lang="es-AR" sz="1600" b="1" dirty="0">
                          <a:solidFill>
                            <a:srgbClr val="292927"/>
                          </a:solidFill>
                          <a:latin typeface="Arial"/>
                          <a:ea typeface="Arial"/>
                          <a:cs typeface="Arial"/>
                        </a:rPr>
                        <a:t>Producción de un operario formado y meses de rampa (N1 + N2)</a:t>
                      </a:r>
                    </a:p>
                  </a:txBody>
                  <a:tcPr marL="63500" marR="63500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AR" sz="1600" b="0" dirty="0">
                          <a:solidFill>
                            <a:srgbClr val="292927"/>
                          </a:solidFill>
                          <a:latin typeface="Arial"/>
                          <a:ea typeface="Arial"/>
                          <a:cs typeface="Arial"/>
                        </a:rPr>
                        <a:t>Cuánto presupuesto de retención se justifica. Hoy el 97% del costo por salida es supuesto.</a:t>
                      </a:r>
                    </a:p>
                  </a:txBody>
                  <a:tcPr marL="63500" marR="63500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AR" sz="1600" b="0" dirty="0">
                          <a:solidFill>
                            <a:srgbClr val="292927"/>
                          </a:solidFill>
                          <a:latin typeface="Arial"/>
                          <a:ea typeface="Arial"/>
                          <a:cs typeface="Arial"/>
                        </a:rPr>
                        <a:t>Un indicador de gestión trimestral. No es un modelo.</a:t>
                      </a:r>
                    </a:p>
                  </a:txBody>
                  <a:tcPr marL="63500" marR="63500">
                    <a:solidFill>
                      <a:srgbClr val="F5F1E8"/>
                    </a:solidFill>
                  </a:tcPr>
                </a:tc>
              </a:tr>
            </a:tbl>
          </a:graphicData>
        </a:graphic>
      </p:graphicFrame>
      <p:sp>
        <p:nvSpPr>
          <p:cNvPr id="5" name="Rectángulo 4">
            <a:extLst>
              <a:ext uri="{FF2B5EF4-FFF2-40B4-BE49-F238E27FC236}">
                <a16:creationId xmlns:a16="http://schemas.microsoft.com/office/drawing/2014/main" xmlns="" id="{E01B5C32-2C7A-459F-A467-27966808EB27}"/>
              </a:ext>
            </a:extLst>
          </p:cNvPr>
          <p:cNvSpPr>
            <a:spLocks noGrp="1"/>
          </p:cNvSpPr>
          <p:nvPr/>
        </p:nvSpPr>
        <p:spPr>
          <a:xfrm>
            <a:off x="384617" y="5076813"/>
            <a:ext cx="11018616" cy="1257312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spcAft>
                <a:spcPts val="600"/>
              </a:spcAft>
              <a:defRPr sz="1350" b="0">
                <a:solidFill>
                  <a:srgbClr val="292927"/>
                </a:solidFill>
                <a:latin typeface="Arial"/>
                <a:ea typeface="Arial"/>
                <a:cs typeface="Arial"/>
              </a:defRPr>
            </a:pPr>
            <a:r>
              <a:rPr lang="es-AR" sz="1600" b="0" dirty="0">
                <a:solidFill>
                  <a:srgbClr val="292927"/>
                </a:solidFill>
                <a:latin typeface="Arial"/>
                <a:ea typeface="Arial"/>
                <a:cs typeface="Arial"/>
              </a:rPr>
              <a:t>Sin costo: registrar la hora del incidente, dejar de derivar severidad de días perdidos, y llevar un histórico de aumentos con fecha propia.</a:t>
            </a:r>
          </a:p>
          <a:p>
            <a:pPr>
              <a:spcAft>
                <a:spcPts val="0"/>
              </a:spcAft>
              <a:defRPr sz="1350" b="1">
                <a:solidFill>
                  <a:srgbClr val="292927"/>
                </a:solidFill>
                <a:latin typeface="Arial"/>
                <a:ea typeface="Arial"/>
                <a:cs typeface="Arial"/>
              </a:defRPr>
            </a:pPr>
            <a:r>
              <a:rPr lang="es-AR" sz="1600" b="1" dirty="0">
                <a:solidFill>
                  <a:srgbClr val="292927"/>
                </a:solidFill>
                <a:latin typeface="Arial"/>
                <a:ea typeface="Arial"/>
                <a:cs typeface="Arial"/>
              </a:rPr>
              <a:t>Decisión de hoy: aprobar las dos fichas (incidente y salida) y designar un responsable.</a:t>
            </a:r>
          </a:p>
        </p:txBody>
      </p:sp>
    </p:spTree>
    <p:extLst>
      <p:ext uri="{BB962C8B-B14F-4D97-AF65-F5344CB8AC3E}">
        <p14:creationId xmlns:p14="http://schemas.microsoft.com/office/powerpoint/2010/main" val="17259785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xmlns="" id="{BD09E2F6-4FED-4A74-9DB5-CA665810866A}"/>
              </a:ext>
            </a:extLst>
          </p:cNvPr>
          <p:cNvSpPr>
            <a:spLocks noGrp="1"/>
          </p:cNvSpPr>
          <p:nvPr/>
        </p:nvSpPr>
        <p:spPr>
          <a:xfrm>
            <a:off x="2857500" y="2964543"/>
            <a:ext cx="1095375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800" b="1">
                <a:solidFill>
                  <a:srgbClr val="292927"/>
                </a:solidFill>
                <a:latin typeface="Arial"/>
                <a:ea typeface="Arial"/>
                <a:cs typeface="Arial"/>
              </a:defRPr>
            </a:pPr>
            <a:r>
              <a:rPr lang="es-ES" sz="6000" b="1" dirty="0" smtClean="0">
                <a:solidFill>
                  <a:srgbClr val="292927"/>
                </a:solidFill>
                <a:latin typeface="Arial"/>
                <a:ea typeface="Arial"/>
                <a:cs typeface="Arial"/>
              </a:rPr>
              <a:t>Muchas Gracias</a:t>
            </a:r>
            <a:endParaRPr sz="4800" b="1" dirty="0">
              <a:solidFill>
                <a:srgbClr val="292927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5048642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383</TotalTime>
  <Words>769</Words>
  <Application>Microsoft Office PowerPoint</Application>
  <DocSecurity>0</DocSecurity>
  <PresentationFormat>Panorámica</PresentationFormat>
  <Paragraphs>117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Arial</vt:lpstr>
      <vt:lpstr>Calibri</vt:lpstr>
      <vt:lpstr>Wingdings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Dell</cp:lastModifiedBy>
  <cp:revision>28</cp:revision>
  <dcterms:created xsi:type="dcterms:W3CDTF">2026-09-07T19:51:55Z</dcterms:created>
  <dcterms:modified xsi:type="dcterms:W3CDTF">2026-09-08T21:34:39Z</dcterms:modified>
</cp:coreProperties>
</file>